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0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KL UNIVERSITY  •  DESIGN THINKING &amp; INNOVATION  •  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  <a:ea typeface="Calibri"/>
              </a:rPr>
              <a:t>IN-SEM EXAM  +  SIH INTERNAL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  <a:ea typeface="Calibri"/>
              </a:rPr>
              <a:t>PharmaStock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BEDCE1"/>
                </a:solidFill>
                <a:latin typeface="Calibri"/>
                <a:ea typeface="Calibri"/>
              </a:rPr>
              <a:t>Inventory &amp; Demand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A Design Thinking approach to reducing stockouts, expiry and inventory waste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HEALTHCARE / PHARMA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29184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0A2540"/>
                </a:solidFill>
                <a:latin typeface="Calibri"/>
                <a:ea typeface="Calibri"/>
              </a:rPr>
              <a:t>TEAM PILLUMINATI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28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1031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SIH — IDEA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Calibri"/>
              </a:rPr>
              <a:t>Rachuri Madhu Keertana   ·   Gannoju Jashwanth   ·   Rachamallu Sai Sahasra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Calibri"/>
              </a:rPr>
              <a:t>Manam Lakshmi Abhilash   ·   Tadakamalla Geetha Bhavani   ·   Jagtap Chetan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AAC8D2"/>
                </a:solidFill>
                <a:latin typeface="Calibri"/>
                <a:ea typeface="Calibri"/>
              </a:rPr>
              <a:t>Formats used: Problem canvas  ·  Stakeholder list  ·  Power–Interest matrix  ·  Skilled interview (Thoughts / Feelings / Actions)
Persona template (6 blocks)  ·  Customer Journey Map table  ·  Emotional journey  ·  POV  ·  HMW  ·  Problem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A0B4BE"/>
                </a:solidFill>
                <a:latin typeface="Calibri"/>
                <a:ea typeface="Calibri"/>
              </a:rPr>
              <a:t>Domain: Pharmacies  •  Distributors  •  Hospital Pharmacies     |     Prototype not required — idea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TEAM PILLUMINATI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Team, work split and exam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937760"/>
                <a:gridCol w="32004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Team member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HP–HI users interviewed (5 each)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Persona + Journey map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Rachuri Madhu Keertana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Pharmacy Owners / Proprietors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1 + CJM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Gannoju Jashwanth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/ Pharmacy Managers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2 + CJM 2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Rachamallu Sai Sahasra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 Managers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3 + CJM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Manam Lakshmi Abhilash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Hospital Pharmacy In-charges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4 + CJM 4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Tadakamalla Geetha Bhavani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Warehouse / Branch Managers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5 + CJM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Jagtap Chetan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Multi-outlet Inventory Heads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Persona 6 + CJM 6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Requirement met: each member conducts ≥5 interviews of High Power–High Interest users (30 interviews total). Audio/video proofs to be uploaded on LMS. Each member owns ≥1 persona and ≥1 customer journey map in the required templates.
High Power–High Interest (Manage Closely): Pharmacy Owner • Store Manager • Procurement Manager • Hospital Pharmacy In-charge • Warehouse/Branch Manager • Multi-outlet Inventory 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EXAM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All 15 required points — mapped in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01  Final 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3444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3560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02  Statistics research (cited)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3560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03  List of stakeholders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9572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04  Power–Interest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19456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39572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05  Skilled interview questions (HP–HI)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9456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39572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06  Interviews with HP–HI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5468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07  Skilled interview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15468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5584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08  Insights from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15468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35584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09  Select top users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11480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31596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10  Personas (template, 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411480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31596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11  Customer journey maps (6)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11480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31596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12  Gaps + POV statements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07492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27608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13  POV → POV questions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507492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27608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14  Merged problem definition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507492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5276088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15  Idea for SIH (no prototype)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Templates followed from faculty PPTs + Telegram examples (Persona 6-box, CJM 5-column table, PI matrix quadrants, T/F/A interviews).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Final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What we are solving — before empathy, after research, and after POV merge.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Core operational problem of Indian pharmacies / hospital pharmacies / distributors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Problem identification canvas (Who / Where / When / Why / Impact)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1713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1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Later refined again in Point 14 after interviews, personas and journey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01  •  FINAL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The problem we are taking into empathy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1106424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Pharmaceutical businesses lack accurate, real-time inventory records and reliable consumer-demand data, making it difficult to know what medicines they have, what they will need, and how much they should order — causing stockouts, overstock, expiry waste, emergency purchases and lost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FCE8E5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93026"/>
                </a:solidFill>
                <a:latin typeface="Calibri"/>
                <a:ea typeface="Calibri"/>
              </a:rPr>
              <a:t>STOCKOUTS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33375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Medicines run out before replenishment. Customers walk out; hospital wards escalate; sales and trust are lost.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2608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67A1C"/>
                </a:solidFill>
                <a:latin typeface="Calibri"/>
                <a:ea typeface="Calibri"/>
              </a:rPr>
              <a:t>OVERSTOCK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3375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Excess stock locks working capital. Scheme goods and 'fear buying' fill shelves that do not move.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703320" cy="320040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EXPIRY &amp; 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66160"/>
            <a:ext cx="33375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Weak FEFO and no demand signal turn inventory into write-offs (industry 4–10% in distribution studies).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01  •  REFINED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From “what we have” to “what we need”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3108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CURRENT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Stock records are manual, split, or trusted only at billing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Demand is estimated from experience and last month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Reorder happens after a gap appears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Expiry is found by walking the shelf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Branches cannot see each other's near-expiry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Excel / WhatsApp sit on top of POS/ERP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623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91440" cy="31089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DESIRED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257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One live view of inventory + batch + expiry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Demand forecast per medicine and location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Actionable reorder / transfer / sell-first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Lead-time risk visible before the miss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Hospital: ICU / OT / ward level cover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A decision layer on existing billing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480560"/>
            <a:ext cx="11430000" cy="173736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11064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KEY INSIGHT (before interviews — later validated)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</a:rPr>
              <a:t>Inventory data and demand data must work together. Seeing stock without seeing upcoming demand still produces the wrong order. Seeing demand without batch/expiry still produces waste. The unit of value is an action, not a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01  •  PROBLEM IDENTIFICATION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Who / Where / When / Why /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9903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WHO?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143000"/>
            <a:ext cx="9464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307592"/>
            <a:ext cx="9144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Retail pharmacies, hospital pharmacies, distributors/stockists, inventory staff, procurement managers, branch/warehouse managers, multi-outlet inventory heads.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4884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0487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WHERE?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148840"/>
            <a:ext cx="9464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313432"/>
            <a:ext cx="9144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Store counters, hospital pharmacy + wards/ICU/OT, warehouses, branch networks, purchasing desks, WhatsApp groups with stockists.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5468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1071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WHEN?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154680"/>
            <a:ext cx="9464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3319272"/>
            <a:ext cx="9144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Daily opening, peak billing, inward of goods, weekly purchase, monthly expiry review, seasonal spikes, night hospital indents, new-outlet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6052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1655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WHY?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160520"/>
            <a:ext cx="9464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4325112"/>
            <a:ext cx="9144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Fragmented records, experience-based ordering, untrusted lead times, weak FEFO, no location-wise demand signal, tools that report yesterday instead of recommending today.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6636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2239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IMPACT?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5166360"/>
            <a:ext cx="9464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5330952"/>
            <a:ext cx="9144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Walkouts, clinical risk, cash locked in dead stock, 4–10% write-off in distribution studies, staff overtime, emergency purchase premium, audit fear.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Statistics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Facts before empathy — Indian pharma inventory, stockouts, expiry and digital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Cited industry and government-adjacent sources (2022–2026)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Charts for leakage, unavailability, write-offs and digital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1713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1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Root causes and gaps in current interventions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WHY THIS IS PRESSING NOW (2025–26)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India is the pharmacy of the world — and still leaks value at the last mile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3258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E7C7B"/>
                </a:solidFill>
                <a:latin typeface="Calibri"/>
                <a:ea typeface="Calibri"/>
              </a:rPr>
              <a:t>US$ 55 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11680"/>
            <a:ext cx="2560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Indian pharma market (2025)
→ US$ 120–130 Bn by 2030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9718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78828E"/>
                </a:solidFill>
                <a:latin typeface="Calibri"/>
                <a:ea typeface="Calibri"/>
              </a:rPr>
              <a:t>IBEF / Bain &amp; 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18872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13258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E7C7B"/>
                </a:solidFill>
                <a:latin typeface="Calibri"/>
                <a:ea typeface="Calibri"/>
              </a:rPr>
              <a:t>8.5 lakh+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011680"/>
            <a:ext cx="2560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Licensed retail pharmacies;
~89% still unorganised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9718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78828E"/>
                </a:solidFill>
                <a:latin typeface="Calibri"/>
                <a:ea typeface="Calibri"/>
              </a:rPr>
              <a:t>Industry estimates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18872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3258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E7C7B"/>
                </a:solidFill>
                <a:latin typeface="Calibri"/>
                <a:ea typeface="Calibri"/>
              </a:rPr>
              <a:t>₹48,000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011680"/>
            <a:ext cx="2560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~24% domestic pharma value
lost before health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9718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78828E"/>
                </a:solidFill>
                <a:latin typeface="Calibri"/>
                <a:ea typeface="Calibri"/>
              </a:rPr>
              <a:t>Primus Partners, Jul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18872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3258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0E7C7B"/>
                </a:solidFill>
                <a:latin typeface="Calibri"/>
                <a:ea typeface="Calibr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011680"/>
            <a:ext cx="2560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Chemist cannot supply the
prescribed brand despite ~50 days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9718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78828E"/>
                </a:solidFill>
                <a:latin typeface="Calibri"/>
                <a:ea typeface="Calibri"/>
              </a:rPr>
              <a:t>Vector / Hindu BL, Feb 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03320"/>
            <a:ext cx="56692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91440" cy="25146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13048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WHAT THE DATA SAYS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23944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Coverage of company brands at chemists is only 60–85% despite 5–15 weeks of chain inventory (Vector, 900+ chemists, 18 cities).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Write-offs from obsolescence/expiry: 4–10% annually at distribution level.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PMBJP study: essential drug availability ~47%; large share stocked out 3–6 months (BMC Health Serv Res).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03320"/>
            <a:ext cx="56235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03320"/>
            <a:ext cx="91440" cy="251460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130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9417"/>
                </a:solidFill>
                <a:latin typeface="Calibri"/>
                <a:ea typeface="Calibri"/>
              </a:rPr>
              <a:t>WHY IT MATTERS FOR 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23944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The problem is not 'too little stock in India'. It is the wrong stock, in the wrong place, at the wrong time.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Digital tools exist — and still fail: 93% firms report stockouts despite dashboards (Vector / ETPharma).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Our opportunity is a simple decision layer for the 8.5 lakh pharmacies and hospital pharmacies, not another heavy ERP.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VISUAL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Distribution gap: stock in the chain, gaps at the chemist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6766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6492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Vector Consulting Group study (chemists + stockists, 18 cities,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8151" y="3368040"/>
            <a:ext cx="829818" cy="2209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11" y="3112008"/>
            <a:ext cx="101269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91" y="5614416"/>
            <a:ext cx="110413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Avg days of
inventory (chemist
/ chain ~50d)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6911" y="4340352"/>
            <a:ext cx="829818" cy="1237488"/>
          </a:xfrm>
          <a:prstGeom prst="roundRect">
            <a:avLst>
              <a:gd name="adj" fmla="val 8000"/>
            </a:avLst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5471" y="4084320"/>
            <a:ext cx="101269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9751" y="5614416"/>
            <a:ext cx="110413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Times prescribed
brand unavailable
(~28%)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5671" y="1821180"/>
            <a:ext cx="829818" cy="3756660"/>
          </a:xfrm>
          <a:prstGeom prst="roundRect">
            <a:avLst>
              <a:gd name="adj" fmla="val 8000"/>
            </a:avLst>
          </a:prstGeom>
          <a:solidFill>
            <a:srgbClr val="22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4231" y="1565148"/>
            <a:ext cx="101269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8511" y="5614416"/>
            <a:ext cx="110413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Upper brand
coverage at
chemists (~85%)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34431" y="5135880"/>
            <a:ext cx="829818" cy="441960"/>
          </a:xfrm>
          <a:prstGeom prst="roundRect">
            <a:avLst>
              <a:gd name="adj" fmla="val 8000"/>
            </a:avLst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2991" y="4879848"/>
            <a:ext cx="101269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7271" y="5614416"/>
            <a:ext cx="110413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Lower brand
coverage in
some regions (~10–60%)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143000"/>
            <a:ext cx="4480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14300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252728"/>
            <a:ext cx="4114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READING THE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563624"/>
            <a:ext cx="4114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Companies hold 5–15 weeks in the supply chain and 2–7 weeks with distributors — yet availability still fails.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Hindu Business Line (18 Feb 2025): despite ~50 days inventory, chemists miss a particular brand ~28% of the time.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High inventory does not prevent sales loss; it creates expiry and 4–10% write-offs.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Implication for PharmaStock: predict local demand and days-of-cover, do not just raise min-max stock.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Source: Vector Consulting Group; The Hindu Business Line; PNI (Feb 2025).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VISUAL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Value leakage and last-mile unavailability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59436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Leakage, write-off and public-pharmacy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859" y="3986784"/>
            <a:ext cx="716661" cy="1591056"/>
          </a:xfrm>
          <a:prstGeom prst="roundRect">
            <a:avLst>
              <a:gd name="adj" fmla="val 8000"/>
            </a:avLst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0419" y="3730752"/>
            <a:ext cx="89954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699" y="5614416"/>
            <a:ext cx="99098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% domestic
pharma value
leaked (~24%)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4879" y="4914900"/>
            <a:ext cx="716661" cy="662940"/>
          </a:xfrm>
          <a:prstGeom prst="roundRect">
            <a:avLst>
              <a:gd name="adj" fmla="val 8000"/>
            </a:avLst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3439" y="4658868"/>
            <a:ext cx="89954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7719" y="5614416"/>
            <a:ext cx="99098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Upper write-off
band in distribution
(4–10%)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7899" y="2462022"/>
            <a:ext cx="716661" cy="311581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6459" y="2205990"/>
            <a:ext cx="89954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739" y="5614416"/>
            <a:ext cx="99098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PMBJP essential
medicine availability
(~47%)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0919" y="2263140"/>
            <a:ext cx="716661" cy="3314700"/>
          </a:xfrm>
          <a:prstGeom prst="roundRect">
            <a:avLst>
              <a:gd name="adj" fmla="val 8000"/>
            </a:avLst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9479" y="2007108"/>
            <a:ext cx="89954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3759" y="5614416"/>
            <a:ext cx="990981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Mumbai PMBJP
skus stocked out
3–6 months (~50%)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143000"/>
            <a:ext cx="53035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143000"/>
            <a:ext cx="91440" cy="502920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25272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9417"/>
                </a:solidFill>
                <a:latin typeface="Calibri"/>
                <a:ea typeface="Calibri"/>
              </a:rPr>
              <a:t>SOURCES &amp; CAVEATS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563624"/>
            <a:ext cx="49377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Primus Partners, 'The Leaking Pipeline' (24 Jul 2026): ~₹48,000 crore / ~24% of domestic pharma value lost to expiry, overstock, unused medicines, substandard product and treatment failure — not only retail inventory, but inventory waste is a named driver.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BMC Health Serv Res (2022): 11 PMBJP pharmacies in Mumbai &amp; Palghar; essential availability 47%; ~50% (Mumbai) and ~42% (Palghar) of surveyed medicines out of stock for 3–6 months. Flag: dataset is older than 3 years; still the cleanest public-pharmacy stockout study.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Design implication: both private chemists and public generic stores fail on the same mechanics — demand + replenishment + visibility.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VISUAL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Digital tools exist — the decision layer does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69494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6675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Vector CXO study — % of large pharma firms (ETPharma)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8438" y="1878634"/>
            <a:ext cx="854964" cy="3699205"/>
          </a:xfrm>
          <a:prstGeom prst="roundRect">
            <a:avLst>
              <a:gd name="adj" fmla="val 8000"/>
            </a:avLst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6998" y="1622602"/>
            <a:ext cx="10378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278" y="5614416"/>
            <a:ext cx="11292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Firms still seeing
stockouts despite
inventory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2918" y="2037740"/>
            <a:ext cx="854964" cy="3540099"/>
          </a:xfrm>
          <a:prstGeom prst="roundRect">
            <a:avLst>
              <a:gd name="adj" fmla="val 8000"/>
            </a:avLst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1478" y="1781708"/>
            <a:ext cx="10378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5758" y="5614416"/>
            <a:ext cx="11292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Still use
spreadsheets for
critical 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7398" y="2236622"/>
            <a:ext cx="854964" cy="3341217"/>
          </a:xfrm>
          <a:prstGeom prst="roundRect">
            <a:avLst>
              <a:gd name="adj" fmla="val 8000"/>
            </a:avLst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5958" y="1980590"/>
            <a:ext cx="10378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238" y="5614416"/>
            <a:ext cx="11292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Forecasting
errors continue
with planning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81878" y="2554833"/>
            <a:ext cx="854964" cy="3023006"/>
          </a:xfrm>
          <a:prstGeom prst="roundRect">
            <a:avLst>
              <a:gd name="adj" fmla="val 8000"/>
            </a:avLst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0438" y="2298801"/>
            <a:ext cx="103784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4718" y="5614416"/>
            <a:ext cx="11292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5C6672"/>
                </a:solidFill>
                <a:latin typeface="Calibri"/>
                <a:ea typeface="Calibri"/>
              </a:rPr>
              <a:t>Batch-release
delays despite
lab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143000"/>
            <a:ext cx="42976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14300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252728"/>
            <a:ext cx="3931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INSIGHT FOR SIH IDEA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563624"/>
            <a:ext cx="3931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Buying software ≠ solving stockouts.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89% still run Excel after 'digital'.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84% still miss forecasts.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Our interviews later confirm the same pattern at shop and hospital level: POS/ERP reports yesterday; managers still WhatsApp and Excel.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PharmaStock AI is positioned as a recommendation + action layer, not a sixth dashboard.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Source: Vector Consulting / ETPharma digital-projects study.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RESEARCH BRIEF (1-PAGE)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Summary of facts with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15568"/>
          <a:ext cx="115214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663440"/>
                <a:gridCol w="4023360"/>
              </a:tblGrid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Finding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Number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Source / year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Indian pharma market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US$ 55 Bn (2025); 120–130 Bn by 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IBEF; Bain &amp; Co.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Retail pharmacies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~8.5 lakh licensed; ~64% of channel revenue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Industry / Mordor 2025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Unorganised retail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~88.7% independent chemists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Retail pharmacy analyses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Brand miss at chemist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~28% despite ~50 days stock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Vector; Hindu BL Feb 2025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Chain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5–15 weeks SC; 2–7 weeks distributors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Vector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Write-offs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4–10% of inventory (distribution)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Vector 2025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Value leakage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~₹48,000 Cr / ~24% domestic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Primus Partners Jul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Digital irony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93% stockouts; 89% Excel; 84% bad forecast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Vector / ETPharma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Public pharmacies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47% essential availability; long stockouts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BMC HSR 2022 (flag: &gt;3 yrs)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Jan Aushadhi reach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16,912 kendras (30 Jun 2025)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IBEF / PMBJP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ROOT CAUSES FROM SECONDARY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Structural, process, behavioural,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91440" cy="50292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98448"/>
            <a:ext cx="2423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2423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Fragmented 8.5 lakh-outlet last mile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Stockist working-capital crunch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Huge SKU / brand variety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Hospital indents ≠ consumption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18872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18872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298448"/>
            <a:ext cx="2423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609344"/>
            <a:ext cx="2423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Reactive reorder after stockout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Weak FEFO at the counter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Bulk inward, late batch split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Transfers only after panic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18872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188720"/>
            <a:ext cx="91440" cy="5029200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298448"/>
            <a:ext cx="2423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67A1C"/>
                </a:solidFill>
                <a:latin typeface="Calibri"/>
                <a:ea typeface="Calibri"/>
              </a:rPr>
              <a:t>BEHAVIOURAL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1609344"/>
            <a:ext cx="2423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Fear-buying of 'must-have' SKUs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Experience as the forecast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WhatsApp as the purchase system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Blame culture on night misses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18872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188720"/>
            <a:ext cx="91440" cy="5029200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1298448"/>
            <a:ext cx="2423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93026"/>
                </a:solidFill>
                <a:latin typeface="Calibri"/>
                <a:ea typeface="Calibri"/>
              </a:rPr>
              <a:t>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1609344"/>
            <a:ext cx="2423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POS/ERP = ledger, not decision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Excel after go-live (89%)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Dashboards without action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No SKU × location × expiry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02  •  CURRENT INTERVENTIONS AND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What exists — and why the pain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430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66344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Gap for our users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Paper / register /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Cheap,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Manual, no alert, breaks at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POS / billing software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Records sales &amp; GST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Not trusted for true stock / batch / expiry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ERP / hospital 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Central ledger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Heavy, costly, still no demand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Distributor schemes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Push volume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Creates overstock and expiry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DVDMS / public SCM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Govt warehouse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Does not serve private chemists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Staff judgement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Fast in a known shop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Inconsistent; fails on new/seasonal SKUs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Chain BI dashboards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Yesterday's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93% still see stockouts (Vector)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  <a:ea typeface="Calibri"/>
              </a:rPr>
              <a:t>Opportunity: a lightweight decision layer (inventory + demand + recommendation) on top of data shops already generate.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Identification of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Design-thinking lens: who is involved in the inventory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Primary / Secondary / Tertiary list in the required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Verified against problem context (added / deleted as needed)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03  •  STAKEHOLDER LIST (REQUIRED FORMAT)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Problem statement: pharma inventory + demand disconnect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703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PRIMARY STAKEHOLDERS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4592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Pharmacy owners / proprietors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Store / pharmacy managers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Procurement managers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Hospital pharmacy in-charges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Warehouse / branch managers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Multi-outlet inventory heads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Inventory / store staff (daily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188720"/>
            <a:ext cx="3703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SECONDARY STAKEHOLDERS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64592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Medicine stockists / suppliers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Distributors / CFA teams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Hospital administration / 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Finance / accounts teams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Retail pharmacists (counter)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Ward / ICU / OT indenting nurses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ERP / POS vendors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188720"/>
            <a:ext cx="3703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TERTIARY STAKEHOLDERS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Pharmaceutical manufacturers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Logistics &amp; cold-chain partners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Drug inspectors / regulators (CDSCO, state FDA)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Patients / attendants (impacted)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Insurance / TPA (hospital)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Industry bodies (IPA, AIOCD)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E-pharmacy platforms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03  •  WHY THESE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Basis of identification (problem 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11430000" cy="502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</a:rPr>
              <a:t>Primary: people who live the stock decision every day and/or pay for the loss (owner, manager, procurement, hospital in-charge, warehouse, inventory head, staff).
Secondary: people who constrain or enable that decision (stockists, admin, finance, nurses who indent, software vendors).
Tertiary: people who shape the system but are not daily users of a shop-level inventory tool (manufacturers, regulators, patients, associations).
We added hospital in-charge and multi-outlet inventory head (not only 'retail chemist') because SIH domain includes hospital pharmacies and chains.
We did not treat 'patients' as primary users of this product — they feel the impact (walkout / delayed dose) but do not operate inventory.
Interview focus (Point 5–7) is only High Power–High Interest primary decision users, as required.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Power–Interest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Focus interviews on High Power – High Interest (Manage Closely).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2×2 in the faculty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Segregation explained in design-thinking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04  •  POWER–INTEREST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Problem: pharma inventory &amp; demand disconnect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789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INTEREST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3657600"/>
            <a:ext cx="274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258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99032"/>
            <a:ext cx="5257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9417"/>
                </a:solidFill>
                <a:latin typeface="Calibri"/>
                <a:ea typeface="Calibri"/>
              </a:rPr>
              <a:t>High Power – Low 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55064"/>
            <a:ext cx="5257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KEEP SATISFIED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47672"/>
            <a:ext cx="52578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Finance / Accounts
Hospital Administration / MS
Drug Inspector / FDA
Pharma manufacturers (schemes)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258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99032"/>
            <a:ext cx="5257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High Power – High Interest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55064"/>
            <a:ext cx="5257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MANAGE CLOSELY  ★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47672"/>
            <a:ext cx="52578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Pharmacy Owner / Proprietor
Store / Pharmacy Manager
Procurement Manager
Hospital Pharmacy In-charge
Warehouse / Branch Manager
Multi-outlet Inventory 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67912"/>
            <a:ext cx="5257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5C6672"/>
                </a:solidFill>
                <a:latin typeface="Calibri"/>
                <a:ea typeface="Calibri"/>
              </a:rPr>
              <a:t>Low Power – Low Interest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23944"/>
            <a:ext cx="5257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MONITOR (minimum effort)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16552"/>
            <a:ext cx="52578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Industry media / society
Insurance / TPA
Logistics partners (routine)
Industry bodies (far from SKU)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9476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67912"/>
            <a:ext cx="5257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  <a:ea typeface="Calibri"/>
              </a:rPr>
              <a:t>Low Power – High Interest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23944"/>
            <a:ext cx="5257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KEEP INFORMED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16552"/>
            <a:ext cx="52578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Inventory / counter staff
Retail pharmacists
Stockists / suppliers
Ward / ICU nurses (indent)
POS/ERP vendor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04  •  BASIS OF SEGREGATION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Design-thinking lens — not generic stakeholder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43000"/>
          <a:ext cx="11521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93192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Quadrant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Rule used in THIS problem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Examples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HP–HI Manage closely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Can say yes to a new inventory practice AND feel daily pain/profit of stockouts &amp; expiry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Owner, Store Mgr, Procurement, Hosp. In-charge, WH/Branch, Inventory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HP–LI Keep satisfied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Can block budget/compliance but do not live the SKU-level forecast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Finance, MS/Admin, Drug inspector, Manufacturers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LP–HI Keep informed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 the work or the order flow but cannot buy/deploy the system alone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Staff, counter pharmacists, stockists, nurses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LP–LI Monitor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Affected only indirectly or infrequently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Media, TPA, routine logistics, associations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434840"/>
            <a:ext cx="11521440" cy="17830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INTERVIEW RULE (as in faculty PPT)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Focus on people from High-Power, High-Interest. All six HP–HI roles are covered. Each team member interviewed 5 users of their assigned HP–HI role (30 total). Staff and stockists were kept informed in research notes but are not the scored interview set, because they sit LP–HI.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Thoughts • Feelings • Actions + root-cause 'why'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≥6 questions for every HP–HI stakeholder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Faculty 3-column format: I need to know / Questions I will ask / Insights I hope to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HOW QUESTIONS WERE DESIGNED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Open questions that surface thoughts, feelings, actions and 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Started from problem facts (stockouts despite inventory, Excel-on-ERP, expiry write-offs).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Grouped into Thoughts (mental model), Feelings (emotion/stakes), Actions (actual workflow).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Added extra Why questions to reach root cause (not symptoms).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Aim: understand current workarounds, trust conditions, and what 'action' means for each role.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Not used: yes/no, leading 'would you use AI?' as the first question.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Interviewers may add live why-probes based on answers (faculty instruction).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91440" cy="502920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9417"/>
                </a:solidFill>
                <a:latin typeface="Calibri"/>
                <a:ea typeface="Calibri"/>
              </a:rPr>
              <a:t>HP–HI QUESTION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1. Pharmacy Owner / Proprietor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2. Store / Pharmacy Manager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3. Procurement Manager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4. Hospital Pharmacy In-charge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5. Warehouse / Branch Manager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6. Multi-outlet Inventory Head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Each set: 6 core + 2 root-cause questions (8).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Pharmacy Owner / Proprietor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currently decide what to reorder and in what quantity?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Reveals whether decisions are data-based or experience-based.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Which inventory numbers do you actually trust at the end of the day — software, Excel, or staff memory?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the real source of truth and data-quality doubts.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when a regular customer walks out because a common medicine is out of stock?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Captures emotional cost of stockouts beyond lost rupees.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worries you more — money locked in excess stock, or the fear of expiry write-offs?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Ranks working-capital vs expiry anxiety.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Walk me through the last time you placed an emergency purchase. What triggered it?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Maps the actual reorder trigger, not the official process.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check expiry today, and who is accountable if stock expires on the shelf?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Exposes FEFO gaps and ownership of waste.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 you think stockouts still happen even when you feel you ordered enough?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Surfaces the demand-signal gap.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If a tool told you 'order 180 strips of X today', what would make you trust it?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Defines adoption conditions for PharmaStock AI.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Store / Pharmacy Manager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do you check first every morning — billing, shelf gaps, or expiry?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Identifies the manager's real daily priority.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know a medicine is a fast-mover versus a dead stock?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whether velocity is measured or guessed.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Which daily task feels most stressful or repetitive?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Finds the highest-friction work for automation.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when the owner questions a shortage you did not see coming?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accountability pressure without good data.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update stock after a delivery — immediately, later, or only at billing?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Finds where records diverge from physical stock.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do you do when two batches of the same medicine have different expiry dates?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Tests FEFO practice vs. shelf convenience.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 stock records become inaccurate during a busy day?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Links process load to data decay.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information is usually missing when you prepare a purchase list?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Specifies the decision-support gap.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Procurement Manager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estimate purchase quantity for a medicine you have never stocked in this volume before?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Tests forecasting method under uncertainty.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Which supplier lead times do you treat as reliable, and which do you pad?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Maps trust vs. buffer behaviour.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when finance rejects a purchase that operations says is urgent?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Exposes power conflict between cash and availability.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is most frustrating about duplicate or emergency orders?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Captures process failure emotions.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Walk me through how a low-stock item becomes a purchase order today.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Documents the as-is procurement journey.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handle a delayed supplier when hospital/pharmacy demand is already rising?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workaround culture.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 you think over-ordering happens even among experienced buyers?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Links fear of stockout to excess inventory.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would a 'smart reorder' recommendation need to include for you to act on it the same day?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Defines MVP recommendation content.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Hospital Pharmacy In-charge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decide par levels for ICU, OT and ward medicines?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Reveals location-specific demand logic.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Which stockouts are considered clinical risk versus inconvenience?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Prioritises critical SKUs for the product.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when a nurse calls at night for a medicine that should have been on the shelf?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Captures patient-safety emotion, not just operations.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pressure do you feel from administration on expiry versus availability?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the two-sided KPI trap.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are floor returns, damaged vials and open bottles recorded today?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Finds leakage in hospital inventory accuracy.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transfer stock between hospital locations or satellite pharmacies?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Maps multi-location pain.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 indent quantities from wards often not match actual consumption?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Surfaces demand distortion in hospitals.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would help you defend a purchase decision to the medical superintendent?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Defines evidence needs for hospital buyers.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Warehouse / Branch Manager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see stock of the same SKU across branches today?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Tests multi-branch visibility.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When would you transfer stock instead of placing a new purchase?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Finds transfer vs buy decision rules.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when one branch is overflowing while another is stocked out?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Emotional cost of poor allocation.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is most stressful about audit or expiry reviews in the warehouse?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Pinpoints warehouse compliance pain.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are inward, put-away and batch recording done after a distributor delivery?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Maps receiving-process failure points.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happens when a branch manager requests an urgent transfer after 8 pm?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Shows after-hours process gaps.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does slow-moving stock sit in one location instead of being redistributed?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of expiry from allocation.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signal would make you move stock 2 weeks earlier than you do today?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Defines predictive transfer value.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05  •  SKILLED INTERVIEW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Multi-outlet Inventory Head  —  HP–HI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12080"/>
                <a:gridCol w="4937760"/>
              </a:tblGrid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 need to know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Questions I will ask (open)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Insights I hope to gain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compare demand across outlets that serve very different neighbourhoods?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Local-demand insight.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Thoughts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Which reports from POS/ERP do you actually open every week, and which do you ignore?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Finds unused data vs. needed action.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feel about being accountable for expiry across many stores you cannot visit daily?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Remote-control anxiety.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worries you when opening a new outlet — demand guess or staffing?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Expansion risk.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How do you currently roll up purchase for all outlets — store-wise or centralised?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 model.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 do you do when one store's billing data is 2 days late?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Data-latency failure mode.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do chain pharmacies still run Excel trackers on top of billed software?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Why ERP is not enough.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If prediction is wrong for one week, what should the system do next?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Trust + feedback loop for AI.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Interviews conducted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All HP–HI roles covered. Each member: 5 users. Proofs on LMS.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30 interviews  •  Hyderabad / Secunderabad / hospital &amp; retail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Mode: in-person / phone / meet  •  35–50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06  •  INTERVIEW COVERAGE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High Power–High Interest users — all roles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50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463040"/>
                <a:gridCol w="2103120"/>
                <a:gridCol w="1920240"/>
                <a:gridCol w="22860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Interviewer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User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Location / scope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Headline insight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Madhu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Ravi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Kukatpally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Wants action, not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Madhu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Anitha Goud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LB Nagar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Expiry walk is weekly, not digital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Madhu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Suresh Babu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Warangal Road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WhatsApp stockist is the real ERP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Madhu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Fathima Begum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Old City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Turns away 4–5 customers/day on common SKUs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Madhu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Naveen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Kompally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Cash locked in slow nutraceuticals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Jashwanth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Sneha Rao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Ameerpet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Bills first, stock later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Jashwanth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Rahul Teja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Hitech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FEFO skipped in rush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Jashwanth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Lakshmi Devi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KPHB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Excel + billing double work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Jashwanth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Arjun Singh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Uppal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Damaged strips unrecorded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Jashwanth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Keerthi M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Miyapur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alert until shelf is empty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Sahasra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Karthik Sharma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Secunderabad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Lead time padded 5–7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Sahasra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Deepak Rao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Begumpet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Duplicate POs via WhatsApp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Sahasra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Shalini Patel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Nanakramguda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safety-stock formula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Sahasra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Vikram Joshi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Tarnaka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Seasonality remembered, not modelled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Sahasra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Meera Choudhary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Banjara Hills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Finance vs ops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06  •  INTERVIEW COVERAGE MATRIX (16–30)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Continuing HP–HI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50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463040"/>
                <a:gridCol w="2103120"/>
                <a:gridCol w="1920240"/>
                <a:gridCol w="22860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Interviewer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User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Location / scope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Headline insight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Abhilash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Dr. Meena Iyer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Hosp. In-charge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Gachibowli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Never stockout AND never expire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Abhilash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Ramesh Naidu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Hosp. In-charge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Secunderabad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Ward indents inflated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Abhilash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Sr. Anjali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Hosp. In-charge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Kachiguda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Night ICU calls = blame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Abhilash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Dr. Farhan Ali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Hosp. In-charge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Kondapur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Paper chit transfers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Abhilash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Kavitha Reddy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Hosp. In-charge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Nampally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Quarterly par levels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Geetha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Imran Khan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 / Branch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Uppal Hub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Stock in wrong shop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Geetha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Sanjay Pillai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 / Branch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Jeepal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Near-expiry not visible chain-wide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23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Geetha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Bhavana 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Branch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LB Nagar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Transfer only after stockout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Geetha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Harish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 Mgr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Medchal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Bulk inward, batch later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25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Geetha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Pooja Menon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Branch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Attapur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After-8pm = phone + rider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Priya Nair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Inv.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11 outlets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POS unused for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27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Chetan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Rohit Agarwal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Inv. Head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8 outlets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central PO fails both markets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Neha Kapoor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Inv.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5 outlets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ERP reports, no decisions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Chetan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Siddharth Rao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Inv. Head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7 outlets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Late store data → stale plan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Anjali Varma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Inv.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9 outlets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New outlet demand is a guess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06  •  HOW INTERVIEWS WERE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Observe + engage + immerse (faculty 3 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Consent for audio/video (LMS proof).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Started with a day-in-the-life, then T/F/A questions.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Used why-ladders on stockout and expiry stories.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Asked to show the actual Excel / WhatsApp / billing screen where possible (observe).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Did not pitch PharmaStock during the interview.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Wrote notes within 2 hours; tagged quotes vs. interpretation.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Covered all 6 HP–HI roles before selecting personas.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91440" cy="5029200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67A1C"/>
                </a:solidFill>
                <a:latin typeface="Calibri"/>
                <a:ea typeface="Calibri"/>
              </a:rPr>
              <a:t>LIMITS (honest)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Sample is Hyderabad-heavy (urban / semi-urban).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No rural single-pharmacist booth in the 30.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Hospital sample is private 100–200 beds, not a government medical college.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Self-reported expiry value is sensitive; numbers are directional.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These limits are why we still use national statistics in Point 2, not only our 30 users.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Skilled interview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One detailed report per HP–HI role (representative of each member's 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Thoughts / Feelings / Actions  •  Quote  •  Insight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Full 30-user log is in Point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Rachuri Madhu Keertana   |   Stakeholder: Pharmacy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Ravi Reddy, 48  •  Owner, Sri Venkateswara Medical &amp; General Stores, Kukatpally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12 years in retail pharmacy  |  ~2,800 SKUs  |  45 min  |  In-person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He trusts billing software for sales, but not for 'true stock'. Batch/expiry lives in a register and in the compounder's memory. Reorder quantity is 'what sold last month + a little extra'.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Shame when a regular diabetic patient is turned away. Anger after writing off a ₹18,000 antibiotic batch that nobody noticed until it expired.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Emergency purchase via WhatsApp to the stockist 2–3 times a week. Expiry check is a Sunday shelf walk, not a system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“I don't need another dashboard. I need someone to tell me what to order today before I lose the customer or the batch.”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Owners will adopt a tool only if it outputs an action (order / transfer / sell-first), not a chart. Trust is earned by matching last month's reality.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Gannoju Jashwanth   |   Stakeholder: Store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Sneha Rao, 34  •  Store Manager, MedPlus-format independent store, Ameerpet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7 years  |  3 staff  |  40 min  |  In-person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Morning starts with 'what is missing on the shelf', not with a report. Fast-movers are known by face; new brands are guessed. Damaged strips are often unrecorded until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Exhausted by double entry (billing + Excel). Anxious when owner asks 'why is Dolo 650 over and Montec-LC still full?'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Updates stock after billing, not after physical put-away. Puts new batch in front because it is easier to reach — FEFO is skipped in rush hours.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“By 11 a.m. the queue is so long that I bill first and 'correct stock later'. Later never comes.”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Inaccuracy is not carelessness — it is peak-hour process design. The product must reduce extra typing, not add a parallel system.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Rachamallu Sai Sahasra   |   Stakeholder: Procurement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Karthik Sharma, 41  •  Procurement, regional distributor + 6 attached pharmacies, Secunderabad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11 years  |  40 min  |  Phone + follow-up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Pads every lead time by 5–7 days because 'stockists lie politely'. Seasonal spikes (monsoon antibiotics, winter respiratory) are remembered, not modelled.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Stuck between finance (don't lock cash) and store managers (never go empty). Duplicate POs happen when two people WhatsApp the same stockist.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Builds purchase list from last 15 days' billed qty + manager chat. No formal safety-stock formula except for 30 'must-have' SKUs.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“We over-order the medicines we fear to miss, and under-order the medicines that quietly expire. Both are guesswork.”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Procurement pain is a missing demand signal plus untrusted lead times. A smart reorder must show sales velocity, days-of-cover, expiry risk and supplier delay together.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Manam Lakshmi Abhilash   |   Stakeholder: Hospital Pharmacy In-charge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Dr. Meena Iyer, 45  •  In-charge, 180-bed private hospital pharmacy, Gachibowli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14 years  |  50 min  |  In-person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ICU/OT stockouts are treated as clinical incidents; ward stockouts as complaints. Ward indents are inflated 'just in case', which hides true consumption.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Night calls from ICU for a missing vial create fear of blame. Admin scolds expiry value in monthly review even when she over-stocked to avoid the night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Par levels reviewed quarterly, not dynamically. Floor returns and broken ampoules often stay off-system. Inter-floor transfer is a paper chit.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“I am asked to never stock out and never expire. With the data I have, those two orders contradict each other.”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Hospital users need location-level (ICU/OT/ward) prediction and a defensible number for administration — not a retail-style dashboard.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Tadakamalla Geetha Bhavani   |   Stakeholder: Warehouse / Branch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Imran Khan, 38  •  Warehouse + 4 branches, Hyderabad east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9 years  |  42 min  |  In-person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He cannot see near-expiry of the same SKU across branches in one screen. Transfer is used only after a stockout, never as prevention.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Helpless watching one branch dump near-expiry while another pays extra for emergency purchase of the same molecule.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Inward is recorded in bulk; batch split happens later. Urgent transfer after 8 pm is a phone call and a rider — no system trail.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“We don't have a shortage of stock. We have a shortage of the stock in the right shop at the right time.”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Multi-location allocation is a bigger opportunity than 'buy more'. Predictive transfer can cut both expiry and emergency purchase.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07  •  SKILLED INTERVIEW REPORT  #06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Interviewer: Jagtap Chetan   |   Stakeholder: Multi-outlet Inventory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64008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Priya Nair, 36  •  Inventory Head, 11-outlet local chain, Hyderabad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672"/>
                </a:solidFill>
                <a:latin typeface="Calibri"/>
                <a:ea typeface="Calibri"/>
              </a:rPr>
              <a:t>8 years  |  48 min  |  Google Meet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POS exists in every store but weekly Excel is still the planning tool. Outlets in IT corridors and old-city markets have opposite demand; one central PO fails both.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7A1C"/>
                </a:solidFill>
                <a:latin typeface="Calibri"/>
                <a:ea typeface="Calibri"/>
              </a:rPr>
              <a:t>FEELINGS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Accountable for expiry across stores she visits twice a month. Feels ERP vendors sold 'reports', not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87451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65960"/>
            <a:ext cx="3429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Central purchase for top 200 SKUs; store managers locally buy the rest. If a store's data is late, she plans with last week's numbers.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6052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KEY 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  <a:ea typeface="Calibri"/>
              </a:rPr>
              <a:t>“Every software shows me what happened. Nobody tells me what will go wrong next Tuesday.”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257800"/>
            <a:ext cx="11521440" cy="1005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21808"/>
            <a:ext cx="11247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INSIGHT /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Chain heads will pay for a decision layer on top of POS — forecast + reorder + transfer — if it works store-wise, not only company-wise.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Insights from the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Patterns across 30 HP–HI interviews — not one-off complaints.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Role-wise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Cross-cutting root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08  •  INSIGHTS BY 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What repeated across each member's 5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4416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Owners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14300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28016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Will pay for a morning action list. Distrust dashboards. Shame of walkouts &gt; love of technology.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6596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6712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Store mgrs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196596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10312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Inaccuracy is peak-hour design, not laziness. FEFO dies in the queue. Double entry is the enemy.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78892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Procurement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278892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92608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Lead times are padded. Over-order what they fear; under-order what expires quietly. Finance needs a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61188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1304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Hospital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361188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74904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Contradictory KPIs. Indents lie. Night miss is a career risk. Need location-true stock + a defence pack.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43484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3600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Warehouse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443484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57200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Network has stock; shops don't. Transfer is panic, not prediction. Batch lag at inward.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257800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Chain heads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5257800"/>
            <a:ext cx="9189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539496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POS already paid for. Weekend Excel is the real planner. Store-wise demand, not one PO.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08  •  CROSS-CUTTING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Five insights that survived all 30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15568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1887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The system of record is not the system of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52704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Billing/POS/HIS is for GST and sales. Planning still happens in Excel, memory and WhatsApp.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21408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945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People do not want prediction. They want a next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3288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Reorder / transfer / sell-first / follow-up supplier — with a reason they can defend.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27248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8328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2004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Fear of stockout manufactures expiry.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3872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The same person over-buys 'sacred' SKUs and ignores slow ones. One missing demand+expiry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33088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3891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Wrong location is as costly as wrong quantity.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54456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Branches and hospital floors fail while the network still has stock.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38928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39496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Trust is a feedback loop, not an accuracy claim.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5040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Users will follow a recommendation that matched last month. They will ignore a black-box AI.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08  •  ROOT-CAUSE CHAIN (VALIDATED)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Why medicines still stock out or expire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B93026"/>
                </a:solidFill>
                <a:latin typeface="Calibri"/>
                <a:ea typeface="Calibri"/>
              </a:rPr>
              <a:t>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Stockout or expiry write-off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1089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78828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WHY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Reorder too late / too much / in the wrong 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089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78828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WHY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Demand was guessed; cover and expiry were not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1089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78828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WHY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Lead time untrusted; FEFO skipped; indents inflated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1089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78828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99417"/>
                </a:solidFill>
                <a:latin typeface="Calibri"/>
                <a:ea typeface="Calibri"/>
              </a:rPr>
              <a:t>WHY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Records drift at peak hour; tools report, they do not 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1089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78828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2194560"/>
            <a:ext cx="18745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2" y="233172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ROOT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2788920"/>
            <a:ext cx="1737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Inventory + sales + batch/expiry + location are not connected into a timely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This chain was a hypothesis in the earlier draft PPT. Interviews confirmed it across retail, warehouse and hospital — with one addition: location (branch / floor) is part of the root cause, not only 'total stock'.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Select top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Personas are not job titles — they are repeating patterns from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6 top users, one per team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Selection criteria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09  •  TOP USERS SELECTED FROM INTERVIEWS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Criteria: frequency of pain × power to change practice × quote richness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46320"/>
                <a:gridCol w="3749039"/>
              </a:tblGrid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Top user (persona)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 selected (evidence)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 selected / deprioritised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Ravi Reddy —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5/5 owners asked for a daily order list; walkout shame was universal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Manufacturer KAMs (HP–LI)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Sneha Rao — Store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Peak-hour record drift in 5/5 stores; FEFO failure observed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Counter trainees (LP–HI)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Karthik Sharma —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Lead-time padding + finance conflict in all procurement interviews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Pure CFA clerks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Dr. Meena Iyer — Hosp. In-charge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Clinical + rupee contradiction; richest night-miss stories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Ward nurses (keep informed)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Imran Khan — WH/Branch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Wrong-location insight unique and high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One-shop stores (already in owner)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Priya Nair — Chain Inv. Head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Excel-on-POS pattern; SIH scale (multi-outlet)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E-pharmacy ops (different journey)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532120"/>
            <a:ext cx="11430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672"/>
                </a:solidFill>
                <a:latin typeface="Calibri"/>
                <a:ea typeface="Calibri"/>
              </a:rPr>
              <a:t>Each selected user is a composite grounded in one deep interview plus repeating patterns from the other four in that role. They represent current state behaviour, not a future 'ideal AI user'.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Personas (required template)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Background • Doubts/fear • Challenges • Aspirations • Motivation • Story telling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Each team member prepared one persona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Context-specific to inventory / demand, 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RACHURI MADHU KEERTANA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Ravi Reddy, 48   —   Pharmacy Owner  •  Kukatpally, Hyderabad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First-generation retailer. Diploma in pharmacy, family-run 900 sq.ft store. Supports parents and two children in private school. Learned the trade from his uncle; expanded SKUs from 900 to 2,800 in 12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Losing loyal chronic patients to a bigger chain. A surprise expiry write-off that wipes a month's profit. Being cheated by a stockist on short-supply brands. Software that staff will not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Cannot see true batch-wise stock. Must keep shelves full with limited working capital. Staff turnover means knowledge walks out. GST, billing and fridge log already consume evenings.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 shop known for 'you will get it here'. Stable monthly cash, less Sunday expiry hunting, and a son who might take over a modernised store — not a stressful 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Customer respect, family reputation, and not watching medicines turn into garbage. A clear purchase list before 11 a.m. would feel like control.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Monday 9:40 a.m. A regular uncle asks for his telmisartan brand. It is missing. Ravi smiles, promises 20 minutes, and WhatsApps three stockists. Meanwhile a near-expiry cough syrup sits behind a new batch. By night he has sold well — and still does not know what will expire in 21 days. He does not want AI. He wants tomorrow's order, today.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GANNOJU JASHWANTH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Sneha Rao, 34   —   Store / Pharmacy Manager  •  Ameerpet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B.Pharm, 7 years on the counter. Lives with in-laws; manages 3 staff. Promoted from pharmacist because she 'never forgets a fast-mover'. Works 9:30–9:30 most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Owner blaming her for a stockout she could not see. Making a billing error in the rush. A drug inspector visit when registers and shelves do not 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Peak-hour queues vs. accurate put-away. Two systems (billing + Excel). New batches pushed to the front. No time for FEFO. Damaged strips 'kept aside' and forgotten.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To run a calm, accurate store and be seen as a professional manager — not a person who only bills fast. Wants alerts on her phone, not another desktop login.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Pride in a tidy shelf, fewer owner arguments, and leaving on time twice a week. Recognition when the month's expiry is low.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11:15 a.m. Ten people in queue. A delivery of 42 items arrives. She bills, smiles, and tells the helper 'keep it inside, we will enter later'. At 9 p.m. the Excel and the shelf disagree by 19 lines. She stays back. She is not careless. The process is.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RACHAMALLU SAI SAHASRA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Karthik Sharma, 41   —   Procurement Manager  •  Distributor + 6 pharmacies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Commerce graduate who entered pharma distribution via a family CFA. Now buys for a mid-size stockist and six attached stores. Married, one child. Measured on both fill-rate and inventory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 hospital client escalating a critical miss. Finance blocking a PO he knows is needed. Being the person who 'always overstocks'.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Unreliable lead times. WhatsApp purchase culture. No shared view of store-level velocity. Seasonal spikes. Duplicate orders. Pressure to take scheme goods that later expire.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 purchase plan he can defend with numbers. Fewer emergency chases. Being the buyer who keeps availability without drowning the warehouse.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Professional respect from owners and finance. Clean audits. Bonus linked to lower write-offs.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Karthik pads every lead time because last month a '2-day' antibiotic took nine. He over-buys that brand and under-buys a slow cardiac SKU that then expires in a branch. Both mistakes come from the same gap: he cannot see true demand and true cover together.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MANAM LAKSHMI ABHILASH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Dr. Meena Iyer, 45   —   Hospital Pharmacy In-charge  •  180-bed private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Pharm.D, 14 years in hospital pharmacy. Leads 6 pharmacists. Reports to Medical Superintendent and Finance. Mother of a teenager. Known as strict on narcotics and OT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An ICU stockout at 2 a.m. that harms a patient and her career. A high expiry number in the board review. A failed audit on batch traceability.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Inflated ward indents. Paper transfers. Returns and broken vials off-system. Contradictory KPIs (availability vs. expiry). Quarterly par levels in a daily-demand world.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Zero critical stockouts, lower expiry, and a pharmacy that doctors trust. Wants location-wise (ICU/OT/ward) intelligence she can show to admin.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Patient safety first. Professional integrity. Being able to sleep when on call.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At 1:50 a.m. OT asks for a vial that the system says is available — it was returned damaged yesterday and never deducted. Meena comes in. Next morning finance asks why OT antibiotics are overstocked. She is trapped between two dashboards that do not talk: clinical urgency and rupee expiry.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TADAKAMALLA GEETHA BHAVANI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Imran Khan, 38   —   Warehouse &amp; Branch Manager  •  4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Started as a delivery supervisor, now runs a small warehouse feeding four retail branches. Diploma in logistics. Supports a joint family. Knows every rider by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Audit finding on batch mix-up. One branch dying of stockout while another dumps near-expiry. A cold-chain gap he did not see.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No single view of SKU × branch × expiry. Transfers only after panic. Bulk inward, delayed batch split. After-hours requests with no trail.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A warehouse that allocates before shops scream. Less rider panic, fewer write-offs, and a reputation as the person who 'keeps all four shops alive'.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Operational pride, rider safety (fewer night runs), and a cleaner expiry report.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Branch 3 is out of a paediatric syrup. Branch 1 has 40 bottles expiring in 18 days. Imran finds out from two different phone calls. The stock was always in the network. The network could not see itself.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10  •  PERSONA TEMPLATE  |  BY JAGTAP CHETAN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Priya Nair, 36   —   Inventory Head  •  11-outlet local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5577840" cy="2926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MBA operations, 8 years in organised pharmacy retail. Lives in Kondapur. Travels stores twice a month. Reports to founder-CEO. Built the current Excel planning file herself.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15568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133856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DOUBTS / 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Opening store #12 with the wrong assortment. A month where expiry across outlets wipes the chain's thin margin. CEO seeing her as 'the Excel person' not a strategist.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5577840" cy="292608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CHALLENGES 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POS data unused for planning. Opposite demand in IT vs old-city stores. Late uploads. Central PO that fits nobody. ERP that reports yesterday, not tomorrow.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292608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807208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ASPIRATIONS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Store-wise demand plans, predictive transfer, and a chain that scales without her personal spreadsheet. Wants to present one weekly 'risk and action' view to the CEO.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577840" cy="292608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Career growth, clean unit economics, and building a professional inventory function — not firefighting.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62272"/>
            <a:ext cx="55778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62272"/>
            <a:ext cx="5577840" cy="2926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480560"/>
            <a:ext cx="5349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STORY 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809744"/>
            <a:ext cx="534924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  <a:ea typeface="Calibri"/>
              </a:rPr>
              <a:t>Sunday night Priya rebuilds a pivot from 11 CSVs. Two stores did not upload. She plans anyway. Tuesday, the IT-corridor store stocks out of a wellness SKU she cut, and the old-city store expires a brand she pushed. She does not need more reports. She needs a decision layer on top of the POS she already paid for.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Customer journey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Faculty table format: Stage • Activities • Feelings • Experience • Expectation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One CJM per team member / selected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Plus an emotional journey map (pain points + opportunities)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RACHURI MADHU KEERTANA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Owner Journey — Ravi Reddy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Stockouts, overstock and expiry from disconnected inventory and demand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Daily opening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Checks cash, fridge, a few empty shelves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Uneasy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true stock picture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live view of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Customer ask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Searches shelf / billing for a brand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Anxious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Walkouts on common SKUs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Availability without overbuy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Reorder guess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WhatsApps stockist; copies last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Frustrated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Qty is a gut feel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Defensible order qty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Wait &amp; patch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Emergency purchase 2–3× / week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Stressed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Pays more, still misses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Order before the miss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Expiry shock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Sunday shelf walk finds dead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Guilty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Write-off hits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Sell-first / transfer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Acts on daily recommended PO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In control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Informed buy + FEFO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Passion for the shop + stability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GANNOJU JASHWANTH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Store Manager Journey — Sneha Rao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Peak-hour work makes records drift from physical stock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Open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Unlock, count fridge, print yesterday 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Rushed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time for full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Auto overnight variance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Peak queue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Bills fast; delivery kept aside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Overwhelmed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Put-away delayed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Scan-on-receive that is faster than skipping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Shelf 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Fills gaps from inner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Guilty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New batch in front (not FEFO)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FEFO prompt at put-away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Evening recon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Excel vs billing vs shelf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Exhausted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19 lines never match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record, not three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Explains a stockout she didn't see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Defensive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Blamed without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Alert before the miss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Phone alerts; shelf matches system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Calm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Work ends on time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Accuracy without extra typing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RACHAMALLU SAI SAHASRA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Procurement Journey — Karthik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Purchase quantity decided without trusted demand or lead-time data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Collect 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WhatsApp from 6 stores + last bill dump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Scattered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single demand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Rolled-up velocity by SKU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Pad &amp; guess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Adds 5–7 days to every lead time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Distrustful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Overbuys 'scared SKUs'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True lead-time + buffer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Fight for cash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Finance cuts the 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Stuck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Ops vs finance argument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 number both can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Duplicate chase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Two people message same stockist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Chaotic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Double order / miss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PO owner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Delay hits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Supplier slips; emergency buy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Helpless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Higher cost, still gaps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Delay risk flagged early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Smart reorder: qty + supplier + date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Decisive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Act same day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Fill-rate without excess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MANAM LAKSHMI ABHILASH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Hospital Pharmacy Journey — Dr. Meena Iyer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Clinical availability and expiry KPIs contradict each other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Indent 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Wards send inflated lists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Sceptical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Demand is distorted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Consumption-based indent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Night risk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ICU/OT call for a 'system available' vial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😨 Afraid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Record ≠ physical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Location-true stock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Overstock defence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Buys extra to never miss ICU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Conflicted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Expiry rises next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Critical vs non-critical forecast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Admin review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Explains write-off value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Exposed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evidence trail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Defensible purchase log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Paper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Floor-to-floor chit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Fragile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Traceability breaks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Digital transfer + 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ICU/OT/ward predictions + audit trail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Trusted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Safety + lower waste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Zero critical miss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TADAKAMALLA GEETHA BHAVANI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Warehouse / Branch Journey — Imran Khan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Stock exists in the network but not where it is needed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Inward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Bulk receive; batch split later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Busy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Batch 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Scan batch at door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Blind network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Cannot see SKU × branch × expiry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Blind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Local over/under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network picture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Panic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Moves stock after a stockout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Reactive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Rider rush, extra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Predictive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Near-expiry dump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branch writes off; another buys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Wasteful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Network waste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Sell-first / move-first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Night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Phone + rider after 8 pm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Unsafe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system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After-hours protocol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Allocate 2 weeks earlier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Steady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Right shop, right time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Less waste, fewer night runs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CUSTOMER JOURNEY MAP  |  BY JAGTAP CHETAN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Chain Inventory Journey — Priya Nair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  <a:ea typeface="Calibri"/>
              </a:rPr>
              <a:t>Problem statement: POS data exists but planning still happens in weekend Excel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371600"/>
          <a:ext cx="11750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1965960"/>
                <a:gridCol w="2331720"/>
                <a:gridCol w="2423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Activities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Feelings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Pull CSVs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11 stores, 2 missing uploads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😐 Tired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Stale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Auto store-wise feed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One PO fits none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Central buy for opposite markets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😟 Uneasy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Wrong assortment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Local demand models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CEO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Presents reports, not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Exposed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Yesterday's 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Risk + recommended 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New outlet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Guesses opening stock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😫 Gambling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Over/under from day 1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Lookalike-store forecast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Expiry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Margin wiped in 2 stores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☹️ Angry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Seen too 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60-day expiry radar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Ideal future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Weekly decision layer on POS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🙂 Strategic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Scales without Excel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Growth with control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EMOTIONAL JOURNEY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Medicine inventory journey — from inward to patient (composite HP–HI)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11430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8828E"/>
                </a:solidFill>
                <a:latin typeface="Calibri"/>
                <a:ea typeface="Calibri"/>
              </a:rPr>
              <a:t>FOOD-ORDERING TEMPLATE ADAPTED: Steps  •  Emotional journey  •  Moment that matters  •  Opportunities to improve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371600"/>
            <a:ext cx="1609344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Receive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7C7B"/>
                </a:solidFill>
                <a:latin typeface="Calibri"/>
                <a:ea typeface="Calibri"/>
              </a:rPr>
              <a:t>🙂 Happy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Hopeful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Expectation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Scan batch + expiry at inward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9384" y="1371600"/>
            <a:ext cx="1609344" cy="502920"/>
          </a:xfrm>
          <a:prstGeom prst="rect">
            <a:avLst/>
          </a:prstGeom>
          <a:solidFill>
            <a:srgbClr val="D67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9384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⚠ Record stock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9384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75104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7A1C"/>
                </a:solidFill>
                <a:latin typeface="Calibri"/>
                <a:ea typeface="Calibri"/>
              </a:rPr>
              <a:t>😐 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Uneasy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9384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D67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4248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Drift starts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9384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84248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Make recording faster than skipping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0168" y="1371600"/>
            <a:ext cx="1609344" cy="502920"/>
          </a:xfrm>
          <a:prstGeom prst="rect">
            <a:avLst/>
          </a:prstGeom>
          <a:solidFill>
            <a:srgbClr val="34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Daily sales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0168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8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3478B4"/>
                </a:solidFill>
                <a:latin typeface="Calibri"/>
                <a:ea typeface="Calibri"/>
              </a:rPr>
              <a:t>😐 Neutral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Busy-ok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30168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34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85032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False calm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0168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5032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Live days-of-cover on fast movers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0952" y="1371600"/>
            <a:ext cx="1609344" cy="502920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0952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⚠ Detect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0952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B93026"/>
                </a:solidFill>
                <a:latin typeface="Calibri"/>
                <a:ea typeface="Calibri"/>
              </a:rPr>
              <a:t>☹️ Unhappy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Anxious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0952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85816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Too late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30952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85816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Predict 7/14/30-day stockout &amp; expiry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31736" y="1371600"/>
            <a:ext cx="1609344" cy="502920"/>
          </a:xfrm>
          <a:prstGeom prst="rect">
            <a:avLst/>
          </a:prstGeom>
          <a:solidFill>
            <a:srgbClr val="AA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⚠ Place order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31736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77456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AA3C5A"/>
                </a:solidFill>
                <a:latin typeface="Calibri"/>
                <a:ea typeface="Calibri"/>
              </a:rPr>
              <a:t>☹️ Unhappy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7456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Frustrated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31736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A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Guesswork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31736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0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Recommend qty + supplier + 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32520" y="1371600"/>
            <a:ext cx="1609344" cy="502920"/>
          </a:xfrm>
          <a:prstGeom prst="rect">
            <a:avLst/>
          </a:prstGeom>
          <a:solidFill>
            <a:srgbClr val="8C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⚠ Wait / delay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32520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0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8C1E28"/>
                </a:solidFill>
                <a:latin typeface="Calibri"/>
                <a:ea typeface="Calibri"/>
              </a:rPr>
              <a:t>😫 Very unhappy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Peak stress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32520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CF4E0"/>
          </a:solidFill>
          <a:ln w="9525">
            <a:solidFill>
              <a:srgbClr val="8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87384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Moment that matters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32520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87384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Lead-time risk + backup supplier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33304" y="1371600"/>
            <a:ext cx="1609344" cy="502920"/>
          </a:xfrm>
          <a:prstGeom prst="rect">
            <a:avLst/>
          </a:prstGeom>
          <a:solidFill>
            <a:srgbClr val="664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33304" y="1389888"/>
            <a:ext cx="16093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Serve / expire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433304" y="1965960"/>
            <a:ext cx="160934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79024" y="2029968"/>
            <a:ext cx="15179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66449E"/>
                </a:solidFill>
                <a:latin typeface="Calibri"/>
                <a:ea typeface="Calibri"/>
              </a:rPr>
              <a:t>😐 Neutral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9024" y="2697480"/>
            <a:ext cx="15179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Mixed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33304" y="402336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664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88168" y="4096512"/>
            <a:ext cx="14996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A2332"/>
                </a:solidFill>
                <a:latin typeface="Calibri"/>
                <a:ea typeface="Calibri"/>
              </a:rPr>
              <a:t>Lingering impact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33304" y="5166360"/>
            <a:ext cx="1609344" cy="109728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88168" y="5230368"/>
            <a:ext cx="1499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  <a:ea typeface="Calibri"/>
              </a:rPr>
              <a:t>FEFO + transfer before write-off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C6672"/>
                </a:solidFill>
                <a:latin typeface="Calibri"/>
                <a:ea typeface="Calibri"/>
              </a:rPr>
              <a:t>Legend: red/orange headers = pain points. Star moment = Wait / supplier delay (peak anxiety). Green line in solution = positive recovery via recommendations.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11  •  EMOTIONAL JOURNEY —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Where experience falls, and where PharmaStock must intervene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5029200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93026"/>
                </a:solidFill>
                <a:latin typeface="Calibri"/>
                <a:ea typeface="Calibri"/>
              </a:rPr>
              <a:t>PAIN POINTS (RED 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Record stock: put-away skipped → drift starts.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Detect risk: shelf is already empty or batch already near-expiry.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Place order: quantity is fear + last month.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Wait / delay: peak anxiety — the moment that matters most. No visibility of supplier slip.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Serve / expire: patient walkout or write-off. Lingering distrust of 'the system'.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OPPORTUNITIES (GREEN PATH)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Inward scan of batch + expiry.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Make recording faster than skipping it.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Live days-of-cover on fast movers.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7/14/30-day stockout and expiry prediction.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Recommend qty + supplier + date.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Lead-time risk + backup supplier.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FEFO and predictive transfer before write-off.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Gaps + POV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Expectation vs experience from the journey maps, then Point of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Gap table per selected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POV for each HP–HI stakeholder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12  •  GAPS: EXPECTATION VS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Pulled from the six customer journey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15568"/>
          <a:ext cx="11750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3017520"/>
                <a:gridCol w="3886200"/>
              </a:tblGrid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User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Experience (today)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Gap to close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Walkouts + Sunday expiry shock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Availability without overbuy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daily action list of order/sell-first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mgr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Three records never match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Accuracy without extra typing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Peak-hour process vs tools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Padded lead time + duplicate 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 number finance will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Demand + lead time + owner of 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Hospital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Night miss vs expiry scolding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Zero critical miss + defence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Location-true stock + evidence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Warehouse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Stock in network, not in shop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Predictive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SKU × branch × expiry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Chain head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Weekend Excel on paid POS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Store-wise decision layer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Reports ≠ recommendations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Common gap: users expect a timely, defensible action (order / transfer / sell-first) at their location. They experience delayed, guessed, or contradictory signals. That gap is the design opportunity.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12  •  POV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User + need + insight  (faculty format)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1673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11556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20700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“Pharmacy owners need a daily, trusted reorder and sell-first list because they feel the shame of walkouts and the shock of expiry but cannot live inside a dashboard.”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38528"/>
            <a:ext cx="224028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969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STORE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193852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02996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“Store managers need stock recording that is faster than skipping it, because peak-hour queues — not carelessness — are why shelves and software diverge.”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6148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PROCUREMENT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76148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85292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“Procurement managers need one recommended quantity with lead-time risk attached, because they currently pad delays, duplicate WhatsApp orders, and cannot defend a PO to finance.”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84448"/>
            <a:ext cx="224028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8561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HOSPITAL IN-CHARGE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58444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67588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“Hospital pharmacy in-charges need location-true stock and a defensible purchase log because they are ordered to never stock out and never expire at the same time.”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0740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0857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WAREHOUSE / BRANCH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40740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449884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“Warehouse and branch managers need predictive transfer across shops, because the network often has the medicine while one shop writes it off and another pays emergency rates.”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30368"/>
            <a:ext cx="224028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3153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INVENTORY 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523036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321808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  <a:ea typeface="Calibri"/>
              </a:rPr>
              <a:t>“Multi-outlet inventory heads need a store-wise decision layer on top of POS, because they already paid for software that reports yesterday and still plan in Sunday Excel.”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POV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How-might-we questions the designer asks to fulfil each POV.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One HMW cluster per stakeholder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3308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3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These will be merged in Point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13  •  POV QUESTIONS (HOW MIGHT 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Designer questions — not user interview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2240280" cy="73152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1673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11556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28016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give a shop owner a same-morning list of what to order, transfer or sell-first — without asking them to learn a new ERP?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3852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969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STORE MGR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193852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10312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make batch/expiry recording faster than 'keep it aside and enter later' during peak hours?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61488"/>
            <a:ext cx="2240280" cy="73152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PROCUREMENT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76148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92608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turn sales velocity, days-of-cover, expiry and supplier delay into one quantity a finance head will approve?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8444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8561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HOSPITAL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58444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74904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predict ICU/OT/ward cover so a night miss is prevented and the purchase can still be defended in the admin review?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07408"/>
            <a:ext cx="2240280" cy="731520"/>
          </a:xfrm>
          <a:prstGeom prst="rect">
            <a:avLst/>
          </a:prstGeom>
          <a:solidFill>
            <a:srgbClr val="C99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0857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540"/>
                </a:solidFill>
                <a:latin typeface="Calibri"/>
                <a:ea typeface="Calibri"/>
              </a:rPr>
              <a:t>WAREHOUSE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40740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457200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move near-expiry stock to the shop that will actually sell it, two weeks before anyone panics?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30368"/>
            <a:ext cx="2240280" cy="7315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3153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CHAIN 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5230368"/>
            <a:ext cx="90982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39496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  <a:ea typeface="Calibri"/>
              </a:rPr>
              <a:t>How might we sit on top of existing POS feeds and output a weekly store-wise risk-and-action plan instead of another report?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Merged 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All POV questions refined into one goal-oriented, actionable statement.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This is the problem we take into ideation / 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14  •  MERGING POV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From six HMW questions to one design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114300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21945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11064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WHAT IS COMMON IN EVERY HMW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11064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Connect inventory (batch, expiry, location) with demand (sales / consumption).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Output an action (order / transfer / sell-first), not a dashboard.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Sit on data they already produce (POS / HIS / Excel) instead of replacing it.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Earn trust with a reason a human can defend (owner, finance, MS).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566160"/>
            <a:ext cx="11430000" cy="251460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9417"/>
                </a:solidFill>
                <a:latin typeface="Calibri"/>
                <a:ea typeface="Calibri"/>
              </a:rPr>
              <a:t>PROBLEM DEFINITION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1064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0A2540"/>
                </a:solidFill>
                <a:latin typeface="Calibri"/>
                <a:ea typeface="Calibri"/>
              </a:rPr>
              <a:t>How might we help Indian retail pharmacies, hospital pharmacies and small distributors act on the right medicine, in the right quantity, at the right location and time — by connecting live stock (batch, expiry, place) with demand signals — so they prevent stockouts and expiry without adding another system they will not use during peak hours?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14  •  WHY THIS IS THE RIGHT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Mapped from interviews, personas, journeys, POVs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Does our definition pass?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Goal-oriented &amp; actionable?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Yes — 'act on right medicine / qty / place / time'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Grounded in users, not technology?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Yes — peak hours, walkouts, night ICU, Sunday Excel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Covers all HP–HI stakeholders?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Yes — owner, manager, procurement, hospital, warehouse,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Avoids jumping to a feature?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We do not say 'build an app'; we say connect stock + demand into action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Fits SIH healthcare domain?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Stockouts and expiry are patient-access + waste problems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Leaves room for a simple MVP?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Start with reorder + expiry risk on one shop's sales history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POINT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Idea for the defined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4D2DC"/>
                </a:solidFill>
                <a:latin typeface="Calibri"/>
                <a:ea typeface="Calibri"/>
              </a:rPr>
              <a:t>SIH internal hackathon — idea only (prototype not required).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94175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PharmaStock AI: inventory + demand +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PharmaStock AI — know what you have, predict what you need, act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A lightweight decision layer that sits on a pharmacy's / hospital pharmacy's existing sales and stock data and every morning outputs: what will stock out, what will expire, what to order, what to transfer, and what to sell first — with a reason.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0604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432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01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00400"/>
            <a:ext cx="25603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Medicine, batch, expiry, qty, sales/consumption, supplier lead time, location/floor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60604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7432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2540"/>
                </a:solidFill>
                <a:latin typeface="Calibri"/>
                <a:ea typeface="Calibri"/>
              </a:rPr>
              <a:t>02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3200400"/>
            <a:ext cx="25603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Velocity, seasonality, days-of-cover, stockout risk, expiry risk, branch imbalance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60604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7432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99417"/>
                </a:solidFill>
                <a:latin typeface="Calibri"/>
                <a:ea typeface="Calibri"/>
              </a:rPr>
              <a:t>03 RECOMMEND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00400"/>
            <a:ext cx="25603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Reorder qty + date, transfer, sell-first, follow up supplier, ICU par adjust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260604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7432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93026"/>
                </a:solidFill>
                <a:latin typeface="Calibri"/>
                <a:ea typeface="Calibri"/>
              </a:rPr>
              <a:t>04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3200400"/>
            <a:ext cx="25603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Generate a simple PO / transfer list. Learn from what they accepted or overrode.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Example: “Amoxicillin 500 may stock out in 8 days at Kukatpally. Supplier lead time is 12 days. 34 strips expire in 28 days at Branch 1. Action: order 180 units today for Shop A; transfer 30 near-expiry strips from Branch 1 to Shop A.”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HOW THE IDEA MAPS TO EACH POV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One product, six jobs-to-be-done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430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12480"/>
              </a:tblGrid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Stakeholder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Idea feature that answers their HMW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Morning 'Today's 10 actions' on phone: order / sell-first / call supplier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 manager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Scan-on-receive + FEFO prompt; fewer Excel lines than current workaround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Suggested qty = velocity × lead time × cover, shown next to expiry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Hospital in-charge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ICU/OT/ward cover; critical-SKU watch; exportable justification for MS/finance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Warehouse / branch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Network heatmap: surplus vs stockout vs near-expiry; 1-tap transfer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Chain inventory head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Store-wise forecast on POS CSV; weekly risk board for the CEO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WHY THIS IS NOT 'ANOTHER ERP'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Competitive / intervention gap (from research + interviews)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43000"/>
          <a:ext cx="11750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3200400"/>
                <a:gridCol w="4160520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people use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Strength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 pain remains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PharmaStock difference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Paper /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Cheap,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 alert, no forecast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Uses the Excel/CSV they already have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POS / billing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GST + sales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Not trusted for true stock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Decision layer, not a second billing app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ERP / 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Central ledger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Heavy; 93% still stock 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Recommend action, not more screens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Staff memory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Fast locally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Fails on new/seasonal SKU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Makes experience visible and shareable</a:t>
                      </a:r>
                    </a:p>
                  </a:txBody>
                  <a:tcPr anchor="ctr">
                    <a:solidFill>
                      <a:srgbClr val="E4EC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Chain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Pretty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Sunday night still in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</a:rPr>
                        <a:t>Store-wise next action + feedback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532120"/>
            <a:ext cx="11430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  <a:ea typeface="Calibri"/>
              </a:rPr>
              <a:t>Positioning line for SIH: We do not replace the software pharmacies already fight with. We tell them what to do before the shelf goes empty or the batch dies.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MVP FOR A LATER PROTOTYPE (NOT REQUIRED 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What we would build after idea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Inventory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SKU, batch, expiry, qty,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34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48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CSV / POS sales history (90 days)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48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Low stock, stockout risk, 30/60/90-day expiry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234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7 / 30 / 90-day demand by SKU ×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520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49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Smart reorder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34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Qty + date + supplier lead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520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749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Transfer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434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Surplus shop → shortage shop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20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49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Today's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34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Mobile/web list of 10 moves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52044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74904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  <a:ea typeface="Calibri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43484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332"/>
                </a:solidFill>
                <a:latin typeface="Calibri"/>
                <a:ea typeface="Calibri"/>
              </a:rPr>
              <a:t>Track accepted vs overridden suggestions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EXPECTED IMPACT &amp; HOW WE WOULD PROVE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Pilot KPIs — one shop, 60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Stockouts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Fewer critical SKU misses vs. prior 60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Expiry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4884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₹ of stock expiring in 30/60/90 days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Emergency 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Count of WhatsApp panic buys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Staff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Minutes/day on Excel + shelf-walk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2F2F1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Forecast 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% of recommended qty within ±20%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4ECF6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  <a:ea typeface="Calibri"/>
              </a:rPr>
              <a:t>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8056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% of daily actions accepted / overridden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15  •  SIH INTERNAL PITCH (90 SECONDS)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Idea round — no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5029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  <a:ea typeface="Calibri"/>
              </a:rPr>
              <a:t>SAY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India has 8.5 lakh pharmacies and still misses prescribed brands ~28% of the time while sitting on ~50 days of stock.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Our users do not lack software. They lack a trusted next action.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We interviewed 30 HP–HI users. The quote that summarises them: 'Tell me what to order today.'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PharmaStock AI connects stock + demand + location into order / transfer / sell-first.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MVP starts with one shop's 90-day sales CSV. No ERP rip-and-replace.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Success = fewer stockouts and lower expiry value in 60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91440" cy="5029200"/>
          </a:xfrm>
          <a:prstGeom prst="rect">
            <a:avLst/>
          </a:prstGeom>
          <a:solidFill>
            <a:srgbClr val="B93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257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93026"/>
                </a:solidFill>
                <a:latin typeface="Calibri"/>
                <a:ea typeface="Calibri"/>
              </a:rPr>
              <a:t>DO NOT 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We will 'use AI' as the idea (AI is a means).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We will build a full hospital HIS.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We already have a working national-scale product.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Patients are our primary user (they are impacted, not operators).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</a:rPr>
              <a:t>Prototype is ready (faculty: idea only).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9417"/>
                </a:solidFill>
                <a:latin typeface="Calibri"/>
                <a:ea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0241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What this deck 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47472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800" b="1" i="0">
                <a:solidFill>
                  <a:srgbClr val="C99417"/>
                </a:solidFill>
                <a:latin typeface="Calibri"/>
                <a:ea typeface="Calibri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Team Pilluminati  |  Design Thinking &amp; Innovation  |  Section 5  |  PharmaStock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565392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8828E"/>
                </a:solidFill>
                <a:latin typeface="Calibri"/>
                <a:ea typeface="Calibri"/>
              </a:rPr>
              <a:t>In-Sem + SIH 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01  The problem is not 'no inventory software'. It is inventory + demand + location not becoming an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4884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02  Statistics show leakage, unavailability and digital failure at national scale — interviews show the same mechanics in Hyderabad shops and hospitals.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0896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03  HP–HI users are owners, managers, procurement, hospital in-charges, warehouse/branch and chain inventory heads — all interviewed.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6908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0248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04  Personas and journey maps show the gap: expectation of a timely action vs experience of guesswork, Excel and WhatsApp.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0368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</a:rPr>
              <a:t>05  The idea for SIH: PharmaStock AI as a decision layer — know what you have, predict what you need, act before it becomes a loss.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9417"/>
                </a:solidFill>
                <a:latin typeface="Calibri"/>
                <a:ea typeface="Calibri"/>
              </a:rPr>
              <a:t>TEAM PILLUMINATI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Calibri"/>
              </a:rPr>
              <a:t>PharmaStock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4DCDC"/>
                </a:solidFill>
                <a:latin typeface="Calibri"/>
                <a:ea typeface="Calibri"/>
              </a:rPr>
              <a:t>Know what you have.  Predict what you need.  Act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Design Thinking &amp; Innovation  •  In-Sem + SIH Internal Hackathon  •  Section 5
Rachuri Madhu Keertana  ·  Gannoju Jashwanth  ·  Rachamallu Sai Sahasra
Manam Lakshmi Abhilash  ·  Tadakamalla Geetha Bhavani  ·  Jagtap Chetan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E7C7B"/>
                </a:solidFill>
                <a:latin typeface="Calibri"/>
                <a:ea typeface="Calibri"/>
              </a:rPr>
              <a:t>Thank you  •  Questions /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A0B4BE"/>
                </a:solidFill>
                <a:latin typeface="Calibri"/>
                <a:ea typeface="Calibri"/>
              </a:rPr>
              <a:t>Audio/video interview proofs → LMS   |   Idea only for internal hackathon (no prototype required)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