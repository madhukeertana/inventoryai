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0db002fe-76b8-443d-b6e9-bd005a42047b.fntdata" /><ns0:Relationship Id="rIdFont16" Type="http://schemas.openxmlformats.org/officeDocument/2006/relationships/font" Target="fonts/5f046a0e-9a26-4ec3-a5f8-296ebda9129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0236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428750"/>
            <a:ext cx="2381250" cy="200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217539"/>
            <a:ext cx="6500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PHARMA DISTRIBUTION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41389"/>
            <a:ext cx="5560695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8FAFC"/>
                </a:solidFill>
                <a:latin typeface="Plus Jakarta Sans"/>
              </a:rPr>
              <a:t>Operational Friction in Pharma Wholesale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8321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User Insights, Customer Journey Analysis &amp; Opportunity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0325"/>
            <a:ext cx="2571750" cy="26289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600325"/>
            <a:ext cx="2571750" cy="26289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00325"/>
            <a:ext cx="2571750" cy="26289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600325"/>
            <a:ext cx="2571750" cy="26289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765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287655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87655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287655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981325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25" y="2981325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300" y="298132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5" y="2981325"/>
            <a:ext cx="1905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Research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448050"/>
            <a:ext cx="222027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Ethical vs. Generic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038600"/>
            <a:ext cx="2114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Non-returnable generic stock transfers 100% of financial losses directly to distributors upon expiry.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6175" y="3448050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MOQ 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6175" y="3800475"/>
            <a:ext cx="21145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High Minimum Order Quantities forced by manufacturers lead to severe over-stocking of slow movers.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3448050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System Disconnects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3800475"/>
            <a:ext cx="2114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Rack inventory discrepancies with software billing lead to misplaced and aged stock.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6875" y="3448050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Compliance Overload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6875" y="3800475"/>
            <a:ext cx="2114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Manual tracking of client drug license renewals increases audit and legal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58466"/>
            <a:ext cx="3048000" cy="327451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2090737"/>
            <a:ext cx="74676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3119437"/>
            <a:ext cx="74676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4386262"/>
            <a:ext cx="74676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2090737"/>
            <a:ext cx="3810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3119437"/>
            <a:ext cx="38100" cy="10763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4386262"/>
            <a:ext cx="38100" cy="13144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2534691"/>
            <a:ext cx="1333500" cy="1333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3614737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3852862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4881562"/>
            <a:ext cx="1047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5119687"/>
            <a:ext cx="1047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5357812"/>
            <a:ext cx="104775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TARGET ARCHETYPE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User Persona: Rajesh Sharma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895" y="4058691"/>
            <a:ext cx="327540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Rajesh Sharma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881" y="4363491"/>
            <a:ext cx="3119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Regional Pharma Distributor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881" y="4696866"/>
            <a:ext cx="3119437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Owner &amp; Manager of a regional medical distribution agency overseeing inventory and retail billing.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1500" y="2281237"/>
            <a:ext cx="781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Core Responsibilities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1500" y="2557462"/>
            <a:ext cx="7810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Inventory management, bulk procurement, retail client billing, and compliance.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1500" y="3309937"/>
            <a:ext cx="781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Primary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1500" y="4576762"/>
            <a:ext cx="7810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Major Frustrations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1500" y="3586162"/>
            <a:ext cx="78105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Protect Margins: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Eliminate expired generic stock losses.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1500" y="3824287"/>
            <a:ext cx="78105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Accuracy: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Maintain precise stock counts and smooth billing workflows.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1500" y="4852987"/>
            <a:ext cx="78105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Dead Inventory: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Unsold generic stock turning into complete loss.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1500" y="5091112"/>
            <a:ext cx="78105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Software Disconnects: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Rack items showing as zero stock during billing.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1500" y="5329237"/>
            <a:ext cx="7810500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Manual Overhead: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Lack of mobile alerts for stock expiries and license renewals.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2687"/>
            <a:ext cx="10972800" cy="27432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452687"/>
          <a:ext cx="10953749" cy="2743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71675"/>
                <a:gridCol w="2957512"/>
                <a:gridCol w="2957512"/>
                <a:gridCol w="30670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Target Expectation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Actual Experience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Experience Gap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Procurement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Order exact quantities needed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Forced into large MOQ 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Over-stocking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Inventory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Software syncs with shelf stock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Items on shelf show as "0" in 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Lost sales &amp; hidden aging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Sales &amp; Billing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Protect wholesale margins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Price wars from new entrants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Margin erosion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Tracking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Automated, proactive alerts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Manual desktop-only checks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High human error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Returns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Return expired products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Generics rejected entirely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Direct financial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Customer Journey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52550"/>
            <a:ext cx="10972800" cy="1552575"/>
          </a:xfrm>
          <a:prstGeom prst="roundRect">
            <a:avLst>
              <a:gd name="adj" fmla="val 736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224337"/>
            <a:ext cx="35052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4224337"/>
            <a:ext cx="35052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4224337"/>
            <a:ext cx="35052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37686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224337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224337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05275" y="4224337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537686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4224337"/>
            <a:ext cx="35052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4224337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39075" y="4224337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537686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4224337"/>
            <a:ext cx="35052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4224337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72875" y="4224337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STRATEGIC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Problem &amp; Solution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1619250"/>
            <a:ext cx="11239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POINT OF VIEW (POV)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1866900"/>
            <a:ext cx="10382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AFC"/>
                </a:solidFill>
                <a:latin typeface="Plus Jakarta Sans"/>
              </a:rPr>
              <a:t>A busy pharmaceutical distributor managing ethical and generic inventories needs a </a:t>
            </a:r>
            <a:r>
              <a:rPr b="1" sz="1350" i="0" u="none">
                <a:solidFill>
                  <a:srgbClr val="F8FAFC"/>
                </a:solidFill>
                <a:latin typeface="Plus Jakarta Sans"/>
              </a:rPr>
              <a:t>real-time, proactive mobile alert system</a:t>
            </a:r>
            <a:r>
              <a:rPr b="0" sz="1350" i="0" u="none">
                <a:solidFill>
                  <a:srgbClr val="F8FAFC"/>
                </a:solidFill>
                <a:latin typeface="Plus Jakarta Sans"/>
              </a:rPr>
              <a:t> for expiries, inventory, and licenses because software-to-physical disconnects and rigid generic return policies create direct financial loss and compliance risks.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491037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Automated Expiry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786312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Push notifications 1–3 months in advance to liquidate generic stock.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525" y="4491037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License Compliance 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525" y="4786312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Timely alerts before client licenses expire to ensure audit readiness.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5325" y="4491037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Smart Inventory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5325" y="4786312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Physical-to-digital inventory reconciliation to ensure rack items appear at billing.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81225"/>
            <a:ext cx="10972800" cy="7429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76575"/>
            <a:ext cx="10972800" cy="7429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1925"/>
            <a:ext cx="10972800" cy="7429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867275"/>
            <a:ext cx="10972800" cy="74295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3812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276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4171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50673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DESIGN FRAMING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Opportunity Areas (How Might We)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38125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1125" y="2447925"/>
            <a:ext cx="86201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HMW prevent financial loss by alerting distributors early on nearing generic stock expiries?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32766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1125" y="3343275"/>
            <a:ext cx="81438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HMW align physical shelf counts with software billing to eliminate invisible inventory?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417195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125" y="4238625"/>
            <a:ext cx="840581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HMW automate compliance checks for retail licenses to remove administrative friction?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50673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125" y="5133975"/>
            <a:ext cx="863203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HMW optimize purchasing logic against manufacturer MOQs to avoid over-procurement?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10250" y="46291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57750" y="2190750"/>
            <a:ext cx="247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NEXT STEPS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514600"/>
            <a:ext cx="1000125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Plus Jakarta Sans"/>
              </a:rPr>
              <a:t>Proactive Mobile Management for Wholesale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71900"/>
            <a:ext cx="714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Eliminating inventory friction through real-time alerts, physical sync, and automated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8131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https://ascsoftware.com/wp-content/uploads/2026/01/featured_10112_20260125210719-1024x572.webp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33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ascsoftware.com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https://media.istockphoto.com/id/1319763895/photo/smiling-mixed-race-mature-man-on-grey-background.jpg?s=612x612&amp;w=0&amp;k=20&amp;c=ZiuzNX9LhTMMcRFrYNfq_zFR7O_aH-q7x1L5elko5uU=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24075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