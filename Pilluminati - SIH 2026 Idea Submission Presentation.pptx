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2000" cy="6858000" type="screen4x3"/>
  <ns0:notesSz cx="6858000" cy="9144000"/>
  <ns0:embeddedFontLst>
    <ns0:embeddedFont>
      <ns0:font typeface="Plus Jakarta Sans"/>
      <ns0:bold ns1:id="rIdFont13"/>
      <ns0:italic ns1:id="rIdFont14"/>
      <ns0:regular ns1:id="rIdFont15"/>
    </ns0:embeddedFont>
    <ns0:embeddedFont>
      <ns0:font typeface="Space Grotesk"/>
      <ns0:bold ns1:id="rIdFont1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Font13" Type="http://schemas.openxmlformats.org/officeDocument/2006/relationships/font" Target="fonts/d7a8e847-c2bc-4fe6-8f0a-6ae869f82be9.fntdata" /><ns0:Relationship Id="rIdFont14" Type="http://schemas.openxmlformats.org/officeDocument/2006/relationships/font" Target="fonts/ab6df105-9ec9-48be-98c9-56698016eb53.fntdata" /><ns0:Relationship Id="rIdFont15" Type="http://schemas.openxmlformats.org/officeDocument/2006/relationships/font" Target="fonts/cedfc0a8-c47c-4776-92d5-4f11429bff22.fntdata" /><ns0:Relationship Id="rIdFont16" Type="http://schemas.openxmlformats.org/officeDocument/2006/relationships/font" Target="fonts/1603f105-e8a0-4a0f-834c-b6449cc24cf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676900"/>
            <a:ext cx="10972800" cy="762000"/>
          </a:xfrm>
          <a:prstGeom prst="roundRect">
            <a:avLst>
              <a:gd name="adj" fmla="val 15000"/>
            </a:avLst>
          </a:prstGeom>
          <a:solidFill>
            <a:srgbClr val="232B3D"/>
          </a:solidFill>
          <a:ln w="9525">
            <a:solidFill>
              <a:srgbClr val="2E36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734550" y="481012"/>
            <a:ext cx="1847850" cy="371475"/>
          </a:xfrm>
          <a:prstGeom prst="roundRect">
            <a:avLst>
              <a:gd name="adj" fmla="val 50000"/>
            </a:avLst>
          </a:prstGeom>
          <a:solidFill>
            <a:srgbClr val="2E3647"/>
          </a:solidFill>
          <a:ln w="9525">
            <a:solidFill>
              <a:srgbClr val="454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643187"/>
            <a:ext cx="2619375" cy="228600"/>
          </a:xfrm>
          <a:prstGeom prst="roundRect">
            <a:avLst>
              <a:gd name="adj" fmla="val 16666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19100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552450"/>
            <a:ext cx="1714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06000" y="557212"/>
            <a:ext cx="16002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39C12"/>
                </a:solidFill>
                <a:latin typeface="Plus Jakarta Sans"/>
              </a:rPr>
              <a:t>PS Category: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2681287"/>
            <a:ext cx="24860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8FAFC"/>
                </a:solidFill>
                <a:latin typeface="Plus Jakarta Sans"/>
              </a:rPr>
              <a:t>PROBLEM STATEMENT ID: SIH26179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938462"/>
            <a:ext cx="115824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b="1" sz="3000" i="0" u="none">
                <a:solidFill>
                  <a:srgbClr val="FFFFFF"/>
                </a:solidFill>
                <a:latin typeface="Space Grotesk"/>
              </a:rPr>
              <a:t>AI BASED INVENTORY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433762"/>
            <a:ext cx="115824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27AE60"/>
                </a:solidFill>
                <a:latin typeface="Plus Jakarta Sans"/>
              </a:rPr>
              <a:t>PharmaStock AI — Action-First Inventory &amp; Compliance Intelligence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767137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1" u="none">
                <a:solidFill>
                  <a:srgbClr val="94A3B8"/>
                </a:solidFill>
                <a:latin typeface="Plus Jakarta Sans"/>
              </a:rPr>
              <a:t>"Predict Demand • Flag Expiries &amp; Licenses • Enable Inter-Pharmacy Transfers • Stop Stockouts"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575" y="5857875"/>
            <a:ext cx="317301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Plus Jakarta Sans"/>
              </a:rPr>
              <a:t>TEAM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75" y="6038850"/>
            <a:ext cx="317301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39C12"/>
                </a:solidFill>
                <a:latin typeface="Plus Jakarta Sans"/>
              </a:rPr>
              <a:t>Pilluminati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1387" y="5857875"/>
            <a:ext cx="317301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Plus Jakarta Sans"/>
              </a:rPr>
              <a:t>THEME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1387" y="6038850"/>
            <a:ext cx="317301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Healthcare &amp; Pharma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5857875"/>
            <a:ext cx="317301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Plus Jakarta Sans"/>
              </a:rPr>
              <a:t>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6038850"/>
            <a:ext cx="317301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Pharmacies &amp; Supply 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3012" y="5857875"/>
            <a:ext cx="317301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Plus Jakarta Sans"/>
              </a:rPr>
              <a:t>STAGE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3012" y="6038850"/>
            <a:ext cx="317301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7AE60"/>
                </a:solidFill>
                <a:latin typeface="Plus Jakarta Sans"/>
              </a:rPr>
              <a:t>Idea Submission Round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7300" y="423862"/>
            <a:ext cx="471308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Space Grotesk"/>
              </a:rPr>
              <a:t>SMART INDIA HACKATHON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7300" y="738187"/>
            <a:ext cx="44886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Official Idea Submission Format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96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9625"/>
            <a:ext cx="12192000" cy="57054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81050"/>
            <a:ext cx="121920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228850"/>
            <a:ext cx="3632150" cy="2867025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79850" y="2228850"/>
            <a:ext cx="3632150" cy="2867025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02500" y="2228850"/>
            <a:ext cx="3632150" cy="2867025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086350"/>
            <a:ext cx="3632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28850"/>
            <a:ext cx="3632150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28850"/>
            <a:ext cx="9525" cy="2867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79825" y="2228850"/>
            <a:ext cx="9525" cy="2867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850" y="5086350"/>
            <a:ext cx="3632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850" y="2228850"/>
            <a:ext cx="3632150" cy="381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850" y="2228850"/>
            <a:ext cx="9525" cy="2867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2475" y="2228850"/>
            <a:ext cx="9525" cy="2867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2500" y="5086350"/>
            <a:ext cx="3632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2500" y="2228850"/>
            <a:ext cx="3632150" cy="38100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2500" y="2228850"/>
            <a:ext cx="9525" cy="2867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25126" y="2228850"/>
            <a:ext cx="9525" cy="2867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5437" y="190500"/>
            <a:ext cx="400050" cy="4000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737" y="304800"/>
            <a:ext cx="17145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2500312"/>
            <a:ext cx="22860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7975" y="2500312"/>
            <a:ext cx="180975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0625" y="2500312"/>
            <a:ext cx="200025" cy="1809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7200" y="6610350"/>
            <a:ext cx="2452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DC3C7"/>
                </a:solidFill>
                <a:latin typeface="Plus Jakarta Sans"/>
              </a:rPr>
              <a:t>@SIH Idea submission - Template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2300" y="6610350"/>
            <a:ext cx="1238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39C12"/>
                </a:solidFill>
                <a:latin typeface="Plus Jakarta Sans"/>
              </a:rPr>
              <a:t>Team Pilluminati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79040"/>
            <a:ext cx="4369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SLIDE 02 /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50490"/>
            <a:ext cx="4588073" cy="251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800" i="0" u="none">
                <a:solidFill>
                  <a:srgbClr val="1E293B"/>
                </a:solidFill>
                <a:latin typeface="Space Grotesk"/>
              </a:rPr>
              <a:t>IDEA TITLE: PROPOSED 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175" y="2476500"/>
            <a:ext cx="3621025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Proposed Solution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4200" y="2476500"/>
            <a:ext cx="36686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Addressing the Problem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35900" y="2476500"/>
            <a:ext cx="3556099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2980B9"/>
                </a:solidFill>
                <a:latin typeface="Plus Jakarta Sans"/>
              </a:rPr>
              <a:t>Innovation &amp; Uniqueness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0737" y="233362"/>
            <a:ext cx="24812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b="1" sz="1275" i="0" u="none">
                <a:solidFill>
                  <a:srgbClr val="2C3E50"/>
                </a:solidFill>
                <a:latin typeface="Space Grotesk"/>
              </a:rPr>
              <a:t>SMART INDIA HACKATHON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0737" y="423862"/>
            <a:ext cx="248126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b="1" sz="975" i="0" u="none">
                <a:solidFill>
                  <a:srgbClr val="7F8C8D"/>
                </a:solidFill>
                <a:latin typeface="Plus Jakarta Sans"/>
              </a:rPr>
              <a:t>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825" y="2819400"/>
            <a:ext cx="30606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Multi-Trigger Smart Flagging: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Auto-flags near-expiry FEFO stock, fast/slow velocity items, and cold-storage needs (2–8°C).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825" y="3505200"/>
            <a:ext cx="30606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Retail License Verification Firewall: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Pre-billing check verifies 3–5 yr Drug Licenses before distributor dispatch.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825" y="4191000"/>
            <a:ext cx="30606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B2B Inter-Pharmacy Transfer Hub: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Live local stock mapping enables peer-to-peer sharing during emergency stockouts.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8475" y="2819400"/>
            <a:ext cx="30606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Solves Distributor MOQ Over-Purchasing: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Reorder models factor in bulk lot sizes, preventing capital lockup.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8475" y="3505200"/>
            <a:ext cx="30606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Streamlines Supplier Reverse Logistics: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Automates return and claim workflows for damaged or near-expiry medicines.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8475" y="4191000"/>
            <a:ext cx="30606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Zero Walkouts on Vital Meds: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Dynamic safety stock buffers ensure key life-saving drugs never run out.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31125" y="2819400"/>
            <a:ext cx="30606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Non-Invasive Intelligence Overlay: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Plugs directly into existing POS/spreadsheets without replacing core software.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31125" y="3505200"/>
            <a:ext cx="30606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Inward Cold-Chain Tagging: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Auto-detects temperature requirements upon stock entry to prevent spoilage.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31125" y="4191000"/>
            <a:ext cx="30606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Action-First Feed: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Converts tables into daily WhatsApp action cards (Order, Sell First, Return, Transfer).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5325" y="2800350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5325" y="3486150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5325" y="4171950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17975" y="2800350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17975" y="3486150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17975" y="4171950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40625" y="2800350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0625" y="3486150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0625" y="4171950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96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9625"/>
            <a:ext cx="12192000" cy="57054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81050"/>
            <a:ext cx="121920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038350"/>
            <a:ext cx="5019675" cy="3248025"/>
          </a:xfrm>
          <a:prstGeom prst="roundRect">
            <a:avLst>
              <a:gd name="adj" fmla="val 351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05475" y="2038350"/>
            <a:ext cx="6029325" cy="3248025"/>
          </a:xfrm>
          <a:prstGeom prst="roundRect">
            <a:avLst>
              <a:gd name="adj" fmla="val 351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276850"/>
            <a:ext cx="50196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38350"/>
            <a:ext cx="5019675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38350"/>
            <a:ext cx="9525" cy="3248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67350" y="2038350"/>
            <a:ext cx="9525" cy="3248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05475" y="5276850"/>
            <a:ext cx="6029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05475" y="2038350"/>
            <a:ext cx="6029325" cy="38100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05475" y="2038350"/>
            <a:ext cx="9525" cy="3248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5275" y="2038350"/>
            <a:ext cx="9525" cy="3248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5325" y="2628900"/>
            <a:ext cx="4543425" cy="523875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5325" y="3257550"/>
            <a:ext cx="4543425" cy="523875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5325" y="3886200"/>
            <a:ext cx="4543425" cy="523875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5325" y="4514850"/>
            <a:ext cx="4543425" cy="523875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0" y="2686050"/>
            <a:ext cx="555307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0" y="3305175"/>
            <a:ext cx="555307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3600" y="3924300"/>
            <a:ext cx="555307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43600" y="4543425"/>
            <a:ext cx="555307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86475" y="2805112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86475" y="3424237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86475" y="4043362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6475" y="4662487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5437" y="190500"/>
            <a:ext cx="400050" cy="4000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737" y="304800"/>
            <a:ext cx="171450" cy="1714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2309812"/>
            <a:ext cx="200025" cy="1809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2309812"/>
            <a:ext cx="200025" cy="1809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7200" y="6610350"/>
            <a:ext cx="2452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DC3C7"/>
                </a:solidFill>
                <a:latin typeface="Plus Jakarta Sans"/>
              </a:rPr>
              <a:t>@SIH Idea submission - Template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2300" y="6610350"/>
            <a:ext cx="1238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39C12"/>
                </a:solidFill>
                <a:latin typeface="Plus Jakarta Sans"/>
              </a:rPr>
              <a:t>Team Pilluminati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79040"/>
            <a:ext cx="52744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SLIDE 03 / 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50490"/>
            <a:ext cx="5538192" cy="251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800" i="0" u="none">
                <a:solidFill>
                  <a:srgbClr val="1E293B"/>
                </a:solidFill>
                <a:latin typeface="Space Grotesk"/>
              </a:rPr>
              <a:t>TECHNICAL APPROACH &amp; ARCHITECTURE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600" y="2286000"/>
            <a:ext cx="5384006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Technologies to be Used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8875" y="2286000"/>
            <a:ext cx="5953125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2980B9"/>
                </a:solidFill>
                <a:latin typeface="Plus Jakarta Sans"/>
              </a:rPr>
              <a:t>Implementation Methodology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0737" y="233362"/>
            <a:ext cx="24812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b="1" sz="1275" i="0" u="none">
                <a:solidFill>
                  <a:srgbClr val="2C3E50"/>
                </a:solidFill>
                <a:latin typeface="Space Grotesk"/>
              </a:rPr>
              <a:t>SMART INDIA HACKATHON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0737" y="423862"/>
            <a:ext cx="248126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b="1" sz="975" i="0" u="none">
                <a:solidFill>
                  <a:srgbClr val="7F8C8D"/>
                </a:solidFill>
                <a:latin typeface="Plus Jakarta Sans"/>
              </a:rPr>
              <a:t>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675" y="2724150"/>
            <a:ext cx="534590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CORE BACKEND &amp; APIS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675" y="2886075"/>
            <a:ext cx="5345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Python (FastAPI), Drug License Verification API, PostgreSQL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675" y="3352800"/>
            <a:ext cx="534590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AI / DEMAND PREDICTION ENGINE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675" y="3514725"/>
            <a:ext cx="5345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Prophet &amp; LightGBM (Demand), Fast/Slow Seller Classifier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675" y="3981450"/>
            <a:ext cx="534590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980B9"/>
                </a:solidFill>
                <a:latin typeface="Plus Jakarta Sans"/>
              </a:rPr>
              <a:t>FRONTEND &amp; DELIVERY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675" y="4143375"/>
            <a:ext cx="5345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React.js (PWA Dashboard), WhatsApp Business 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675" y="4610100"/>
            <a:ext cx="534590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8E44AD"/>
                </a:solidFill>
                <a:latin typeface="Plus Jakarta Sans"/>
              </a:rPr>
              <a:t>INWARD DATA &amp; OCR PIPELINE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8675" y="4772025"/>
            <a:ext cx="5345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OCR Invoice Scanner (Tesseract), Cold-Chain Rule Engine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2805112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8FAFC"/>
                </a:solidFill>
                <a:latin typeface="Plus Jakarta Sans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3424237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8FAFC"/>
                </a:solidFill>
                <a:latin typeface="Plus Jakarta Sans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4043362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4662487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86525" y="2790825"/>
            <a:ext cx="4881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Inward Stock OCR Ingestion &amp; Storage Flagging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86525" y="2962275"/>
            <a:ext cx="48815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Scans bills, registers batch expiries, &amp; tags temperature storage (2–8°C).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86525" y="3409950"/>
            <a:ext cx="5024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Smart Multi-Trigger Rules &amp; Demand Model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86525" y="3581400"/>
            <a:ext cx="502443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Evaluates reorder thresholds, fast/slow velocity, &amp; FEFO sell-first priorities.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86525" y="4029075"/>
            <a:ext cx="4798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Pre-Billing License Firewall &amp; Transfer Matcher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86525" y="4200525"/>
            <a:ext cx="479821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Verifies retail licenses before dispatch &amp; maps nearby pharmacy stocks.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86525" y="4648200"/>
            <a:ext cx="49887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Action Card Alerts &amp; Supplier Returns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86525" y="4819650"/>
            <a:ext cx="498871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Sends daily WhatsApp action feeds for 1-tap reorders, returns, &amp; transfers.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96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9625"/>
            <a:ext cx="12192000" cy="57054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81050"/>
            <a:ext cx="121920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128837"/>
            <a:ext cx="3632150" cy="3067050"/>
          </a:xfrm>
          <a:prstGeom prst="roundRect">
            <a:avLst>
              <a:gd name="adj" fmla="val 37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79850" y="2228850"/>
            <a:ext cx="3632150" cy="2867025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02500" y="2228850"/>
            <a:ext cx="3632150" cy="2867025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186362"/>
            <a:ext cx="3632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28837"/>
            <a:ext cx="3632150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28837"/>
            <a:ext cx="9525" cy="3067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79825" y="2128837"/>
            <a:ext cx="9525" cy="3067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850" y="5086350"/>
            <a:ext cx="3632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850" y="2228850"/>
            <a:ext cx="363215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850" y="2228850"/>
            <a:ext cx="9525" cy="2867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2475" y="2228850"/>
            <a:ext cx="9525" cy="2867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2500" y="5086350"/>
            <a:ext cx="3632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2500" y="2228850"/>
            <a:ext cx="3632150" cy="381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2500" y="2228850"/>
            <a:ext cx="9525" cy="2867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25126" y="2228850"/>
            <a:ext cx="9525" cy="2867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5437" y="190500"/>
            <a:ext cx="400050" cy="4000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737" y="304800"/>
            <a:ext cx="17145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2400300"/>
            <a:ext cx="180975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7975" y="2500312"/>
            <a:ext cx="180975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0625" y="2500312"/>
            <a:ext cx="180975" cy="1809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7200" y="6610350"/>
            <a:ext cx="2452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DC3C7"/>
                </a:solidFill>
                <a:latin typeface="Plus Jakarta Sans"/>
              </a:rPr>
              <a:t>@SIH Idea submission - Template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2300" y="6610350"/>
            <a:ext cx="1238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39C12"/>
                </a:solidFill>
                <a:latin typeface="Plus Jakarta Sans"/>
              </a:rPr>
              <a:t>Team Pilluminati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79040"/>
            <a:ext cx="3536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SLIDE 04 /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50490"/>
            <a:ext cx="3712964" cy="251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800" i="0" u="none">
                <a:solidFill>
                  <a:srgbClr val="1E293B"/>
                </a:solidFill>
                <a:latin typeface="Space Grotesk"/>
              </a:rPr>
              <a:t>FEASIBILITY AND VIABILITY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550" y="2376487"/>
            <a:ext cx="36686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Feasibility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4200" y="2476500"/>
            <a:ext cx="36686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C0392B"/>
                </a:solidFill>
                <a:latin typeface="Plus Jakarta Sans"/>
              </a:rPr>
              <a:t>Potential Challenges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6850" y="2476500"/>
            <a:ext cx="3575149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Strategies to Overcome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0737" y="233362"/>
            <a:ext cx="24812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b="1" sz="1275" i="0" u="none">
                <a:solidFill>
                  <a:srgbClr val="2C3E50"/>
                </a:solidFill>
                <a:latin typeface="Space Grotesk"/>
              </a:rPr>
              <a:t>SMART INDIA HACKATHON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0737" y="423862"/>
            <a:ext cx="248126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b="1" sz="975" i="0" u="none">
                <a:solidFill>
                  <a:srgbClr val="7F8C8D"/>
                </a:solidFill>
                <a:latin typeface="Plus Jakarta Sans"/>
              </a:rPr>
              <a:t>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825" y="2719387"/>
            <a:ext cx="30606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Technical Feasibility: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Lightweight microservices connect smoothly with existing CSV/POS data without replacing hardware.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825" y="3605212"/>
            <a:ext cx="30606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Operational Feasibility: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OCR invoice scanning removes manual batch entry effort for busy pharmacy staff.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825" y="4291012"/>
            <a:ext cx="30606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Commercial Viability: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High ROI via waste recovery (4–10% revenue saved) and zero lost walkout sales.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8475" y="2819400"/>
            <a:ext cx="30606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Peak-Hour Data Entry Bottleneck: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Counter staff skipping live stock entries during heavy customer rushes.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8475" y="3505200"/>
            <a:ext cx="30606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Distributor MOQ Constraints: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Fixed manufacturer bulk lot sizes forcing excess stock purchases.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8475" y="4191000"/>
            <a:ext cx="30606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Unmonitored License Status: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Risk of dispatches being made to retailers with expired drug licenses.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31125" y="2819400"/>
            <a:ext cx="30606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OCR Invoice Mobile Scan: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Quick phone camera scanning captures batch, expiry, and cold-chain tags instantly.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31125" y="3505200"/>
            <a:ext cx="30606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Inter-Pharmacy MOQ Sharing: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Enables nearby pharmacies to pool orders and share distributor bulk MOQ lots.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31125" y="4191000"/>
            <a:ext cx="30606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Auto-License Tracker: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Pre-billing API check alerts 60 days before drug license expiry to maintain compliance.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5325" y="2700337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5325" y="3586162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5325" y="4271962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17975" y="2800350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17975" y="3486150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17975" y="4171950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40625" y="2800350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0625" y="3486150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0625" y="4171950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96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9625"/>
            <a:ext cx="12192000" cy="57054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81050"/>
            <a:ext cx="121920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028825"/>
            <a:ext cx="2705100" cy="80962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14700" y="2028825"/>
            <a:ext cx="2705100" cy="80962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2028825"/>
            <a:ext cx="2705100" cy="80962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29700" y="2028825"/>
            <a:ext cx="2705100" cy="80962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3028950"/>
            <a:ext cx="5524500" cy="226695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0300" y="3028950"/>
            <a:ext cx="5524500" cy="226695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28925"/>
            <a:ext cx="27051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028825"/>
            <a:ext cx="27051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028825"/>
            <a:ext cx="38100" cy="80962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52775" y="2028825"/>
            <a:ext cx="9525" cy="8096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4700" y="2828925"/>
            <a:ext cx="27051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4700" y="2028825"/>
            <a:ext cx="27051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14700" y="2028825"/>
            <a:ext cx="38100" cy="809625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10275" y="2028825"/>
            <a:ext cx="9525" cy="8096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828925"/>
            <a:ext cx="27051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2028825"/>
            <a:ext cx="27051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028825"/>
            <a:ext cx="38100" cy="809625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7775" y="2028825"/>
            <a:ext cx="9525" cy="8096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29700" y="2828925"/>
            <a:ext cx="27051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29700" y="2028825"/>
            <a:ext cx="27051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0" y="2028825"/>
            <a:ext cx="38100" cy="809625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725275" y="2028825"/>
            <a:ext cx="9525" cy="8096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286375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028950"/>
            <a:ext cx="5524500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028950"/>
            <a:ext cx="9525" cy="22669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72175" y="3028950"/>
            <a:ext cx="9525" cy="22669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0300" y="5286375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0300" y="3028950"/>
            <a:ext cx="5524500" cy="381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0300" y="3028950"/>
            <a:ext cx="9525" cy="22669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725275" y="3028950"/>
            <a:ext cx="9525" cy="22669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5437" y="190500"/>
            <a:ext cx="400050" cy="4000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737" y="304800"/>
            <a:ext cx="171450" cy="1714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3300412"/>
            <a:ext cx="200025" cy="1809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3300412"/>
            <a:ext cx="200025" cy="18097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57200" y="6610350"/>
            <a:ext cx="2452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DC3C7"/>
                </a:solidFill>
                <a:latin typeface="Plus Jakarta Sans"/>
              </a:rPr>
              <a:t>@SIH Idea submission - Template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2300" y="6610350"/>
            <a:ext cx="1238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39C12"/>
                </a:solidFill>
                <a:latin typeface="Plus Jakarta Sans"/>
              </a:rPr>
              <a:t>Team Pilluminati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179040"/>
            <a:ext cx="2964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SLIDE 05 / 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50490"/>
            <a:ext cx="3112889" cy="251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800" i="0" u="none">
                <a:solidFill>
                  <a:srgbClr val="1E293B"/>
                </a:solidFill>
                <a:latin typeface="Space Grotesk"/>
              </a:rPr>
              <a:t>IMPACT AND BENEFITS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803" y="2171700"/>
            <a:ext cx="2988468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250" i="0" u="none">
                <a:solidFill>
                  <a:srgbClr val="0F172A"/>
                </a:solidFill>
                <a:latin typeface="Plus Jakarta Sans"/>
              </a:rPr>
              <a:t>8.5 Lakh+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803" y="2552700"/>
            <a:ext cx="298846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64748B"/>
                </a:solidFill>
                <a:latin typeface="Plus Jakarta Sans"/>
              </a:rPr>
              <a:t>Small Retail Pharmacies Impacted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87303" y="2171700"/>
            <a:ext cx="2988468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250" i="0" u="none">
                <a:solidFill>
                  <a:srgbClr val="0F172A"/>
                </a:solidFill>
                <a:latin typeface="Plus Jakarta Sans"/>
              </a:rPr>
              <a:t>60%↓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87303" y="2552700"/>
            <a:ext cx="298846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64748B"/>
                </a:solidFill>
                <a:latin typeface="Plus Jakarta Sans"/>
              </a:rPr>
              <a:t>Reduction in Stockout Duration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4803" y="2171700"/>
            <a:ext cx="2988468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250" i="0" u="none">
                <a:solidFill>
                  <a:srgbClr val="2980B9"/>
                </a:solidFill>
                <a:latin typeface="Plus Jakarta Sans"/>
              </a:rPr>
              <a:t>4-10%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44803" y="2552700"/>
            <a:ext cx="298846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64748B"/>
                </a:solidFill>
                <a:latin typeface="Plus Jakarta Sans"/>
              </a:rPr>
              <a:t>Expiry Waste Value Recovered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02303" y="2171700"/>
            <a:ext cx="2988468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250" i="0" u="none">
                <a:solidFill>
                  <a:srgbClr val="8E44AD"/>
                </a:solidFill>
                <a:latin typeface="Plus Jakarta Sans"/>
              </a:rPr>
              <a:t>100%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02303" y="2552700"/>
            <a:ext cx="298846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64748B"/>
                </a:solidFill>
                <a:latin typeface="Plus Jakarta Sans"/>
              </a:rPr>
              <a:t>Compliance &amp; Cold-Chain Safety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0600" y="3276600"/>
            <a:ext cx="6015037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Direct Impact on Retailers &amp; Distributors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3700" y="3276600"/>
            <a:ext cx="54483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Ecosystem &amp; Patient Affordability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10737" y="233362"/>
            <a:ext cx="24812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b="1" sz="1275" i="0" u="none">
                <a:solidFill>
                  <a:srgbClr val="2C3E50"/>
                </a:solidFill>
                <a:latin typeface="Space Grotesk"/>
              </a:rPr>
              <a:t>SMART INDIA HACKATHON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10737" y="423862"/>
            <a:ext cx="248126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b="1" sz="975" i="0" u="none">
                <a:solidFill>
                  <a:srgbClr val="7F8C8D"/>
                </a:solidFill>
                <a:latin typeface="Plus Jakarta Sans"/>
              </a:rPr>
              <a:t>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5825" y="3619500"/>
            <a:ext cx="4953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Protects Cash Flow: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Prevents capital from getting locked in slow-moving items or forced bulk lot orders.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5825" y="4105275"/>
            <a:ext cx="4953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Eliminates Patient Walkouts: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Ensures vital and fast-moving medicines are always available on shelves.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5825" y="4591050"/>
            <a:ext cx="4953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Automated Supplier Returns: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Streamlines return processing for damaged or near-expiry items prior to write-off.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38925" y="3619500"/>
            <a:ext cx="4953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Inter-Pharmacy Peer Network: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Connects nearby stores for emergency stock sharing when local stockouts occur.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38925" y="4105275"/>
            <a:ext cx="4953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Enforces Cold-Chain Safety: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Automatic alerts for temperature-sensitive drugs (2–8°C) protect medicine potency.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38925" y="4591050"/>
            <a:ext cx="4953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Enhances Affordability: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Recovering waste losses enables pharmacies to offer better pricing to patients.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5325" y="3600450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5325" y="4086225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5325" y="4572000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48425" y="3600450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48425" y="4086225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48425" y="4572000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096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9625"/>
            <a:ext cx="12192000" cy="57054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81050"/>
            <a:ext cx="121920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919287"/>
            <a:ext cx="5524500" cy="3486150"/>
          </a:xfrm>
          <a:prstGeom prst="roundRect">
            <a:avLst>
              <a:gd name="adj" fmla="val 32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0300" y="2286000"/>
            <a:ext cx="5524500" cy="2752725"/>
          </a:xfrm>
          <a:prstGeom prst="roundRect">
            <a:avLst>
              <a:gd name="adj" fmla="val 41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395912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19287"/>
            <a:ext cx="5524500" cy="381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19287"/>
            <a:ext cx="9525" cy="34861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72175" y="1919287"/>
            <a:ext cx="9525" cy="34861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0300" y="5029200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0300" y="2286000"/>
            <a:ext cx="5524500" cy="38100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0300" y="2286000"/>
            <a:ext cx="9525" cy="27527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5275" y="2286000"/>
            <a:ext cx="9525" cy="27527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5437" y="190500"/>
            <a:ext cx="400050" cy="4000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737" y="304800"/>
            <a:ext cx="17145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2190750"/>
            <a:ext cx="22860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2557462"/>
            <a:ext cx="161925" cy="1809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610350"/>
            <a:ext cx="2452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DC3C7"/>
                </a:solidFill>
                <a:latin typeface="Plus Jakarta Sans"/>
              </a:rPr>
              <a:t>@SIH Idea submission - Template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2300" y="6610350"/>
            <a:ext cx="1238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39C12"/>
                </a:solidFill>
                <a:latin typeface="Plus Jakarta Sans"/>
              </a:rPr>
              <a:t>Team Pilluminati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79040"/>
            <a:ext cx="3774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SLIDE 06 / 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50490"/>
            <a:ext cx="3962995" cy="2513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800" i="0" u="none">
                <a:solidFill>
                  <a:srgbClr val="1E293B"/>
                </a:solidFill>
                <a:latin typeface="Space Grotesk"/>
              </a:rPr>
              <a:t>RESEARCH AND REFERENCES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175" y="2166937"/>
            <a:ext cx="5986462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Plus Jakarta Sans"/>
              </a:rPr>
              <a:t>Field Research: Pharmacy Owners &amp; Distributors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325" y="2509837"/>
            <a:ext cx="6310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Operational Findings from Stakeholder Interviews &amp; Brainstorming: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5600" y="2533650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2980B9"/>
                </a:solidFill>
                <a:latin typeface="Plus Jakarta Sans"/>
              </a:rPr>
              <a:t>Industry Benchmark References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737" y="233362"/>
            <a:ext cx="24812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b="1" sz="1275" i="0" u="none">
                <a:solidFill>
                  <a:srgbClr val="2C3E50"/>
                </a:solidFill>
                <a:latin typeface="Space Grotesk"/>
              </a:rPr>
              <a:t>SMART INDIA HACKATHON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737" y="423862"/>
            <a:ext cx="248126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b="1" sz="975" i="0" u="none">
                <a:solidFill>
                  <a:srgbClr val="7F8C8D"/>
                </a:solidFill>
                <a:latin typeface="Plus Jakarta Sans"/>
              </a:rPr>
              <a:t>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825" y="2757487"/>
            <a:ext cx="4953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Distributor Bulk MOQ Rules: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Manufacturers force fixed bulk lot sizes; distributors need order customization tools.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825" y="3243262"/>
            <a:ext cx="4953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Pre-Billing Drug License Check: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Verified need to auto-flag 3–5 yr retail drug license status during billing/dispatch.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825" y="3729037"/>
            <a:ext cx="4953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Inward Cold-Chain &amp; Storage Flags: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Inward stock receiving must immediately flag items needing 2–8°C cold storage.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825" y="4214812"/>
            <a:ext cx="4953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Batch Expiry &amp; Velocity Tagging: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Demanded visual tags for fast/slow sellers &amp; FEFO sell-first priorities.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825" y="4700587"/>
            <a:ext cx="4953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Supplier Returns &amp; Inter-Pharmacy Sharing: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Retailers requested automated reverse returns &amp; nearby pharmacy stock visibility.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38925" y="2876550"/>
            <a:ext cx="4953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Vector Consulting Group (2025):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28% prescribed brand unavailability despite stores holding ~50 days of inventory.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38925" y="3362325"/>
            <a:ext cx="4953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ETPharma / Vector CXO Study: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93% face stockouts despite digital tools; 89% still rely on manual Excel sheets.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38925" y="3848100"/>
            <a:ext cx="4953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IBEF / Bain &amp; Company (2025-2026):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Indian Pharma market growing to $120–130 Bn by 2030; ~89% retail remains unorganized.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8925" y="4333875"/>
            <a:ext cx="4953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0F172A"/>
                </a:solidFill>
                <a:latin typeface="Plus Jakarta Sans"/>
              </a:rPr>
              <a:t>Primus Study (Jul 2026):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₹48,000 Cr domestic pharma value lost annually before reaching patient outcome.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5325" y="2738437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5325" y="3224212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5325" y="3709987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5325" y="4195762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5325" y="4681537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8425" y="2857500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8425" y="3343275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8425" y="3829050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8425" y="4314825"/>
            <a:ext cx="114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E67E22"/>
                </a:solidFill>
                <a:latin typeface="Plus Jakarta Sans"/>
              </a:rPr>
              <a:t>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