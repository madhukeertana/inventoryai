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Plus Jakarta Sans"/>
      <ns0:bold ns1:id="rIdFont22"/>
      <ns0:italic ns1:id="rIdFont23"/>
      <ns0:regular ns1:id="rIdFont24"/>
    </ns0:embeddedFont>
    <ns0:embeddedFont>
      <ns0:font typeface="Space Grotesk"/>
      <ns0:bold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b07d8c7c-766b-487b-bc5c-4b369f933a61.fntdata" /><ns0:Relationship Id="rIdFont23" Type="http://schemas.openxmlformats.org/officeDocument/2006/relationships/font" Target="fonts/f5df60a0-b5bf-49b6-81e7-3fa06e4920d2.fntdata" /><ns0:Relationship Id="rIdFont24" Type="http://schemas.openxmlformats.org/officeDocument/2006/relationships/font" Target="fonts/f6100ee3-65c0-4967-b529-a004c3bf7757.fntdata" /><ns0:Relationship Id="rIdFont25" Type="http://schemas.openxmlformats.org/officeDocument/2006/relationships/font" Target="fonts/9862c6ba-7c2d-492c-98a6-8266c54db0d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248775" y="457200"/>
            <a:ext cx="2333625" cy="762000"/>
          </a:xfrm>
          <a:prstGeom prst="roundRect">
            <a:avLst>
              <a:gd name="adj" fmla="val 1500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819650"/>
            <a:ext cx="3555950" cy="714375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7950" y="4819650"/>
            <a:ext cx="3555950" cy="714375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4819650"/>
            <a:ext cx="3555950" cy="714375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686425"/>
            <a:ext cx="3555950" cy="714375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17950" y="5686425"/>
            <a:ext cx="3555950" cy="714375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6300" y="5686425"/>
            <a:ext cx="3555950" cy="714375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5057775" cy="1088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SIH26179 | Healthcare &amp; Pharma |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958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TEAM ROLES &amp;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6513314" cy="4600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b="1" sz="3150" i="0" u="none">
                <a:solidFill>
                  <a:srgbClr val="FFFFFF"/>
                </a:solidFill>
                <a:latin typeface="Space Grotesk"/>
              </a:rPr>
              <a:t>PharmaStock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307752"/>
            <a:ext cx="62031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Action-First Inventory &amp; Compliance Intelligence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5406" y="581025"/>
            <a:ext cx="2416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38BDF8"/>
                </a:solidFill>
                <a:latin typeface="Plus Jakarta Sans"/>
              </a:rPr>
              <a:t>KL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5406" y="771525"/>
            <a:ext cx="2416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CBD5E1"/>
                </a:solidFill>
                <a:latin typeface="Plus Jakarta Sans"/>
              </a:rPr>
              <a:t>DTI — Submission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5406" y="942975"/>
            <a:ext cx="2416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94A3B8"/>
                </a:solidFill>
                <a:latin typeface="Plus Jakarta Sans"/>
              </a:rPr>
              <a:t>Team Pilluminati | Sec 5 | Batch 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4981575"/>
            <a:ext cx="4040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Team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5191125"/>
            <a:ext cx="4040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Backend &amp; Systems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9875" y="4981575"/>
            <a:ext cx="4040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Member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9875" y="5191125"/>
            <a:ext cx="4040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Field Research &amp; Empathy Interviews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225" y="4981575"/>
            <a:ext cx="400377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Member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8225" y="5191125"/>
            <a:ext cx="400377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Demand Prediction Modeling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5848350"/>
            <a:ext cx="4040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Member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6057900"/>
            <a:ext cx="4040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OCR Data Extraction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9875" y="5848350"/>
            <a:ext cx="4040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Member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9875" y="6057900"/>
            <a:ext cx="4040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Frontend UI &amp; WhatsApp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8225" y="5848350"/>
            <a:ext cx="400377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Member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8225" y="6057900"/>
            <a:ext cx="400377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Regulatory &amp; License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53100"/>
            <a:ext cx="5391150" cy="647700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5753100"/>
            <a:ext cx="5391150" cy="647700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071687"/>
            <a:ext cx="5334000" cy="1276350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500437"/>
            <a:ext cx="5334000" cy="1276350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071687"/>
            <a:ext cx="38100" cy="12763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500437"/>
            <a:ext cx="38100" cy="12763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900237"/>
            <a:ext cx="5334000" cy="304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900237"/>
            <a:ext cx="5334000" cy="304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96265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175" y="5962650"/>
            <a:ext cx="2571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Problem Context &amp;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Indian Pharmacy Inventory Crisis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62187"/>
            <a:ext cx="614362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D9488"/>
                </a:solidFill>
                <a:latin typeface="Plus Jakarta Sans"/>
              </a:rPr>
              <a:t>8.5+ Lakh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728912"/>
            <a:ext cx="6143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Retail Pharmacies Operating on Thin Margins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986087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High stockouts and tied-up capital due to manual practices.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690937"/>
            <a:ext cx="614362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E11D48"/>
                </a:solidFill>
                <a:latin typeface="Plus Jakarta Sans"/>
              </a:rPr>
              <a:t>₹48,000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157662"/>
            <a:ext cx="6143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Annual Pharmaceutical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414837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Wasted from expired inventory, poor FEFO, and cold-chain issues.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" y="5915025"/>
            <a:ext cx="4452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Plus Jakarta Sans"/>
              </a:rPr>
              <a:t>SDG 3: Good Health &amp; Well-Being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6086475"/>
            <a:ext cx="4452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66534"/>
                </a:solidFill>
                <a:latin typeface="Plus Jakarta Sans"/>
              </a:rPr>
              <a:t>Zero walkouts on vital drugs &amp; preserved cold-chain potency.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5915025"/>
            <a:ext cx="4048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SDG 9: Innovation &amp; 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0" y="6086475"/>
            <a:ext cx="4048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40AF"/>
                </a:solidFill>
                <a:latin typeface="Plus Jakarta Sans"/>
              </a:rPr>
              <a:t>Resilient micro-supply networks via P2P stock transfers.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3450" y="1714500"/>
            <a:ext cx="5248275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34125" y="1714500"/>
            <a:ext cx="5248275" cy="2143125"/>
          </a:xfrm>
          <a:prstGeom prst="roundRect">
            <a:avLst>
              <a:gd name="adj" fmla="val 5333"/>
            </a:avLst>
          </a:prstGeom>
          <a:solidFill>
            <a:srgbClr val="F0FDF4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3450" y="4010025"/>
            <a:ext cx="5248275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4125" y="4010025"/>
            <a:ext cx="5248275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43675" y="1933575"/>
            <a:ext cx="1247775" cy="219075"/>
          </a:xfrm>
          <a:prstGeom prst="roundRect">
            <a:avLst>
              <a:gd name="adj" fmla="val 17391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81300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019425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57550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495675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2781300"/>
            <a:ext cx="1619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3019425"/>
            <a:ext cx="1619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3257550"/>
            <a:ext cx="1619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3495675"/>
            <a:ext cx="1619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314950"/>
            <a:ext cx="13335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553075"/>
            <a:ext cx="1333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791200"/>
            <a:ext cx="13335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5314950"/>
            <a:ext cx="1428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5553075"/>
            <a:ext cx="1428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5791200"/>
            <a:ext cx="142875" cy="142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3810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Stakeholder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191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Power / Interest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25" y="1714500"/>
            <a:ext cx="457200" cy="476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POWER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4450" y="6305550"/>
            <a:ext cx="1476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LOW INTEREST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1725" y="6305550"/>
            <a:ext cx="1512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HIGH INTEREST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1924050"/>
            <a:ext cx="6036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KEEP SATISFIED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2114550"/>
            <a:ext cx="633829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High Power, Low Interest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2752725"/>
            <a:ext cx="6036468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Finance / Accounts Officers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2990850"/>
            <a:ext cx="6036468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Hospital Administration /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228975"/>
            <a:ext cx="6036468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Drug Inspectors / FDA Authorities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467100"/>
            <a:ext cx="6036468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Pharma Manufacturers (Schemes)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9875" y="1971675"/>
            <a:ext cx="1190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INTERVIEW ZONE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3675" y="2209800"/>
            <a:ext cx="5648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Plus Jakarta Sans"/>
              </a:rPr>
              <a:t>MANAGE CLOSELY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3675" y="2752725"/>
            <a:ext cx="5648325" cy="180975"/>
          </a:xfrm>
          <a:prstGeom prst="rect">
            <a:avLst/>
          </a:prstGeom>
          <a:noFill/>
        </p:spPr>
        <p:txBody>
          <a:bodyPr wrap="none" lIns="2381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Retail Pharmacy Owners (Primary)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3675" y="2990850"/>
            <a:ext cx="5648325" cy="180975"/>
          </a:xfrm>
          <a:prstGeom prst="rect">
            <a:avLst/>
          </a:prstGeom>
          <a:noFill/>
        </p:spPr>
        <p:txBody>
          <a:bodyPr wrap="none" lIns="2381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Store / Pharmacy Managers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3675" y="3228975"/>
            <a:ext cx="5648325" cy="180975"/>
          </a:xfrm>
          <a:prstGeom prst="rect">
            <a:avLst/>
          </a:prstGeom>
          <a:noFill/>
        </p:spPr>
        <p:txBody>
          <a:bodyPr wrap="none" lIns="2381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Wholesale Procurement Heads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3675" y="3467100"/>
            <a:ext cx="5648325" cy="180975"/>
          </a:xfrm>
          <a:prstGeom prst="rect">
            <a:avLst/>
          </a:prstGeom>
          <a:noFill/>
        </p:spPr>
        <p:txBody>
          <a:bodyPr wrap="none" lIns="2381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Hospital Pharmacy In-charge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219575"/>
            <a:ext cx="6036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MONITOR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4410075"/>
            <a:ext cx="633829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Low Power, Low Interest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286375"/>
            <a:ext cx="6036468" cy="1809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Industry Media &amp; Societies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524500"/>
            <a:ext cx="6036468" cy="1809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Health Insurance / TPAs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762625"/>
            <a:ext cx="6036468" cy="1809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Routine Logistics Couriers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3675" y="4219575"/>
            <a:ext cx="56483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KEEP INFORMED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3675" y="4410075"/>
            <a:ext cx="5648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Low Power, High Interest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3675" y="5286375"/>
            <a:ext cx="564832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Counter Sales Staff &amp; Pharmacists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3675" y="5524500"/>
            <a:ext cx="564832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Stockists / Local Suppliers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43675" y="5762625"/>
            <a:ext cx="564832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POS / ERP Technical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90700"/>
            <a:ext cx="109728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14700"/>
            <a:ext cx="109728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838700"/>
            <a:ext cx="109728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790700"/>
            <a:ext cx="57150" cy="1333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53250" y="2019300"/>
            <a:ext cx="44005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314700"/>
            <a:ext cx="57150" cy="13335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53250" y="3543300"/>
            <a:ext cx="44005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838700"/>
            <a:ext cx="57150" cy="13335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53250" y="5067300"/>
            <a:ext cx="44005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Primary Field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Interview Protocol &amp;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252662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THOUGHTS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2462212"/>
            <a:ext cx="190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Capital Lockup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7950" y="2128837"/>
            <a:ext cx="41719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"How do manual reordering and distributor Minimum Order Quantities (MOQs) affect your working capital?"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5175" y="2181225"/>
            <a:ext cx="50768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Expected Insight: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5175" y="2390775"/>
            <a:ext cx="4171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Uncovering financial lockup in slow stock limiting buying power for essentials.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3776662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FEELINGS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3986212"/>
            <a:ext cx="190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Customer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7950" y="3652837"/>
            <a:ext cx="41719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"How do you feel when a patient walks out empty-handed due to an unexpected stockout of a vital drug?"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5175" y="3705225"/>
            <a:ext cx="50768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Expected Insight: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5175" y="3914775"/>
            <a:ext cx="4171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Identifying anxiety over lost trust and frustration with demand spikes.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5300662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5510212"/>
            <a:ext cx="190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Workarounds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47950" y="5286375"/>
            <a:ext cx="4171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"What steps do you take when stock is 60 days from expiry or when a nearby store needs stock?"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5175" y="5229225"/>
            <a:ext cx="50768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Expected Insight: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5175" y="5438775"/>
            <a:ext cx="4171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Documenting paper pads, late-night audits, and informal phone 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228850"/>
          <a:ext cx="10972799" cy="42481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13992"/>
                <a:gridCol w="3620988"/>
                <a:gridCol w="4937819"/>
              </a:tblGrid>
              <a:tr h="70802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Stakeholder / 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Key Question Asked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Core Insight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Rajesh Sharma</a:t>
                      </a:r>
                      <a:r>
                        <a:t>
</a:t>
                      </a:r>
                      <a:r>
                        <a:rPr b="0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Retail Chemist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"How do you handle near-expiry stock?"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Retailers lack early warnings, incurring 4–10% revenue loss on expired FEFO stock.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Suresh Patel</a:t>
                      </a:r>
                      <a:r>
                        <a:t>
</a:t>
                      </a:r>
                      <a:r>
                        <a:rPr b="0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Distributor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"What causes delivery holds to chemists?"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Regulatory penalties for shipping to expired Drug Licenses cause manual dispatch holds.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Amit Verma</a:t>
                      </a:r>
                      <a:r>
                        <a:t>
</a:t>
                      </a:r>
                      <a:r>
                        <a:rPr b="0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Counter Staff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"Why aren't stock levels updated in real time?"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Peak rush hours prevent live POS entry, causing system stock to lag behind physical shelf count.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Dr. K. S. Rao</a:t>
                      </a:r>
                      <a:r>
                        <a:t>
</a:t>
                      </a:r>
                      <a:r>
                        <a:rPr b="0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Hospital Pharmacist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"How do you handle cold-chain items?"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Receiving staff lack instant visual alerts to isolate 2–8°C shipments immediately upon arrival.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Vikram Singh</a:t>
                      </a:r>
                      <a:r>
                        <a:t>
</a:t>
                      </a:r>
                      <a:r>
                        <a:rPr b="0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Chain Store 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"How do you manage emergency stockouts?"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High willingness to exchange overstocked items with nearby chemists via verified network.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3810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Qualitative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191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Empathy Research Synthesis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10250"/>
            <a:ext cx="109728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96475" y="381000"/>
            <a:ext cx="1685925" cy="2667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133475"/>
            <a:ext cx="2667000" cy="4524375"/>
          </a:xfrm>
          <a:prstGeom prst="roundRect">
            <a:avLst>
              <a:gd name="adj" fmla="val 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810250"/>
            <a:ext cx="38100" cy="6667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38475"/>
            <a:ext cx="2667000" cy="2619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81400" y="1133475"/>
            <a:ext cx="3924300" cy="2271712"/>
          </a:xfrm>
          <a:prstGeom prst="roundRect">
            <a:avLst>
              <a:gd name="adj" fmla="val 4192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58100" y="1133475"/>
            <a:ext cx="3924300" cy="2271712"/>
          </a:xfrm>
          <a:prstGeom prst="roundRect">
            <a:avLst>
              <a:gd name="adj" fmla="val 4192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81400" y="3557587"/>
            <a:ext cx="3924300" cy="2100262"/>
          </a:xfrm>
          <a:prstGeom prst="roundRect">
            <a:avLst>
              <a:gd name="adj" fmla="val 4535"/>
            </a:avLst>
          </a:prstGeom>
          <a:solidFill>
            <a:srgbClr val="FEF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58100" y="3557587"/>
            <a:ext cx="3924300" cy="2100262"/>
          </a:xfrm>
          <a:prstGeom prst="roundRect">
            <a:avLst>
              <a:gd name="adj" fmla="val 4535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33475"/>
            <a:ext cx="2667000" cy="190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381000"/>
            <a:ext cx="48387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Primary Persona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0775" y="438150"/>
            <a:ext cx="1552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2,500 SKUs | 15+ Yrs Exp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59626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"Rajesh lost ₹38,000 on expired cold-chain injectables because his POS failed to send early alerts. He doesn't need another complex portal—he needs instant mobile alerts."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0075"/>
            <a:ext cx="622577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Rajesh Sharma — Retail Chemist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190875"/>
            <a:ext cx="2952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BACKGROUND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381375"/>
            <a:ext cx="2952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Age 42 | B.Pharm Degree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590925"/>
            <a:ext cx="2457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Runs independent store with legacy POS &amp; paper pads.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3800" y="1285875"/>
            <a:ext cx="4524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11D48"/>
                </a:solidFill>
                <a:latin typeface="Plus Jakarta Sans"/>
              </a:rPr>
              <a:t>CHALLENGES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0" y="1285875"/>
            <a:ext cx="4381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MOTIVATION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3800" y="3709987"/>
            <a:ext cx="4524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DOUBTS &amp; FEARS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0" y="3709987"/>
            <a:ext cx="4381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ASPIRATIONS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0" y="149542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1514475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Capital locked in supplier MOQs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0" y="166687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1685925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4–10% annual revenue expiry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0" y="183832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1857375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Tedious late-night manual audits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6700" y="149542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2900" y="1514475"/>
            <a:ext cx="4229100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Protecting profit margins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6700" y="166687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2900" y="1685925"/>
            <a:ext cx="4229100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Retaining customer trust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6700" y="183832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2900" y="1857375"/>
            <a:ext cx="4229100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Simple zero-overhead 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0" y="3919537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13F12"/>
                </a:solidFill>
                <a:latin typeface="Plus Jakarta San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938587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13F12"/>
                </a:solidFill>
                <a:latin typeface="Plus Jakarta Sans"/>
              </a:rPr>
              <a:t>Complex apps slowing rush billing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0" y="4090987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13F12"/>
                </a:solidFill>
                <a:latin typeface="Plus Jakarta Sans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4110037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13F12"/>
                </a:solidFill>
                <a:latin typeface="Plus Jakarta Sans"/>
              </a:rPr>
              <a:t>Monthly SaaS fees &amp; privacy risks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6700" y="3919537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C4A6E"/>
                </a:solidFill>
                <a:latin typeface="Plus Jakarta San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62900" y="3938587"/>
            <a:ext cx="4229100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C4A6E"/>
                </a:solidFill>
                <a:latin typeface="Plus Jakarta Sans"/>
              </a:rPr>
              <a:t>Zero patient walkouts on vital drugs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6700" y="4090987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C4A6E"/>
                </a:solidFill>
                <a:latin typeface="Plus Jakarta Sans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62900" y="4110037"/>
            <a:ext cx="4229100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C4A6E"/>
                </a:solidFill>
                <a:latin typeface="Plus Jakarta Sans"/>
              </a:rPr>
              <a:t>Daily WhatsApp action feeds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91225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39300" y="381000"/>
            <a:ext cx="1943100" cy="2667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1133475"/>
            <a:ext cx="2667000" cy="4705350"/>
          </a:xfrm>
          <a:prstGeom prst="roundRect">
            <a:avLst>
              <a:gd name="adj" fmla="val 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991225"/>
            <a:ext cx="38100" cy="4857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133475"/>
            <a:ext cx="3924300" cy="2276475"/>
          </a:xfrm>
          <a:prstGeom prst="roundRect">
            <a:avLst>
              <a:gd name="adj" fmla="val 4184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86300" y="1133475"/>
            <a:ext cx="3924300" cy="2276475"/>
          </a:xfrm>
          <a:prstGeom prst="roundRect">
            <a:avLst>
              <a:gd name="adj" fmla="val 4184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562350"/>
            <a:ext cx="3924300" cy="2276475"/>
          </a:xfrm>
          <a:prstGeom prst="roundRect">
            <a:avLst>
              <a:gd name="adj" fmla="val 4184"/>
            </a:avLst>
          </a:prstGeom>
          <a:solidFill>
            <a:srgbClr val="FEF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86300" y="3562350"/>
            <a:ext cx="3924300" cy="2276475"/>
          </a:xfrm>
          <a:prstGeom prst="roundRect">
            <a:avLst>
              <a:gd name="adj" fmla="val 4184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15400" y="3038475"/>
            <a:ext cx="2667000" cy="2800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133475"/>
            <a:ext cx="2667000" cy="190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381000"/>
            <a:ext cx="55721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Supply Chain Persona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3600" y="438150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Supplies 120+ Retailers Daily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6143625"/>
            <a:ext cx="11391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"Suresh had to pause orders for 15 pharmacies due to manual license checks. An automated API check would eliminate dispatch holds overnight."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0075"/>
            <a:ext cx="718839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Suresh Patel — Wholesale Distributor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285875"/>
            <a:ext cx="4524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11D48"/>
                </a:solidFill>
                <a:latin typeface="Plus Jakarta Sans"/>
              </a:rPr>
              <a:t>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8700" y="1285875"/>
            <a:ext cx="4524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MOTIVATION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714750"/>
            <a:ext cx="4524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DOUBTS &amp; FEARS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8700" y="3714750"/>
            <a:ext cx="4524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ASPIRATIONS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0" y="3190875"/>
            <a:ext cx="2952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BACKGROUND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7800" y="3381375"/>
            <a:ext cx="2952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Regional Wholesale Hub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7800" y="3590925"/>
            <a:ext cx="2457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Operates enterprise ERP for bulk pharma orders.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149542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1514475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High friction in expiry return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166687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685925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Manual tracking of 3–5 yr Drug Licenses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4900" y="149542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1100" y="1514475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100% regulatory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4900" y="166687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1100" y="1685925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Faster inventory turnover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2430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13F12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943350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13F12"/>
                </a:solidFill>
                <a:latin typeface="Plus Jakarta Sans"/>
              </a:rPr>
              <a:t>Heavy FDA fines for shipping to expired licenses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09575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13F12"/>
                </a:solidFill>
                <a:latin typeface="Plus Jakarta San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114800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13F12"/>
                </a:solidFill>
                <a:latin typeface="Plus Jakarta Sans"/>
              </a:rPr>
              <a:t>Reluctance to modify core billing ERP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4900" y="392430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C4A6E"/>
                </a:solidFill>
                <a:latin typeface="Plus Jakarta San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1100" y="3943350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C4A6E"/>
                </a:solidFill>
                <a:latin typeface="Plus Jakarta Sans"/>
              </a:rPr>
              <a:t>Automated pre-billing license validation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4900" y="409575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C4A6E"/>
                </a:solidFill>
                <a:latin typeface="Plus Jakarta Sans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91100" y="4114800"/>
            <a:ext cx="4333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C4A6E"/>
                </a:solidFill>
                <a:latin typeface="Plus Jakarta Sans"/>
              </a:rPr>
              <a:t>Smoother B2B order customization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86012"/>
            <a:ext cx="5410200" cy="933450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386012"/>
            <a:ext cx="5410200" cy="933450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471862"/>
            <a:ext cx="5410200" cy="933450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3471862"/>
            <a:ext cx="5410200" cy="933450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810250"/>
            <a:ext cx="5410200" cy="666750"/>
          </a:xfrm>
          <a:prstGeom prst="roundRect">
            <a:avLst>
              <a:gd name="adj" fmla="val 11428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5810250"/>
            <a:ext cx="5410200" cy="666750"/>
          </a:xfrm>
          <a:prstGeom prst="roundRect">
            <a:avLst>
              <a:gd name="adj" fmla="val 11428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Synthesis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00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Empathy Map — Retail Chemist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2547937"/>
            <a:ext cx="6357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1. SAYS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776537"/>
            <a:ext cx="635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 "I don't know which batch expires next month."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986087"/>
            <a:ext cx="635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 "Suppliers force bulk MOQs on me."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4125" y="2547937"/>
            <a:ext cx="5857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2. THINKS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4125" y="2776537"/>
            <a:ext cx="585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 "Is cash trapped in slow movers?"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2986087"/>
            <a:ext cx="585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 "Will my patient go to another chemist?"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633787"/>
            <a:ext cx="6357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3. DOES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862387"/>
            <a:ext cx="635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 Handwrites missing medicines on paper pads.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4071937"/>
            <a:ext cx="635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 Calls nearby chemists during stockouts.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4125" y="3633787"/>
            <a:ext cx="5857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11D48"/>
                </a:solidFill>
                <a:latin typeface="Plus Jakarta Sans"/>
              </a:rPr>
              <a:t>4. FEELS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4125" y="3862387"/>
            <a:ext cx="585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 Anxious when fast movers run 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4125" y="4071937"/>
            <a:ext cx="585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 Stressed during surprise compliance audits.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5962650"/>
            <a:ext cx="6381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11D48"/>
                </a:solidFill>
                <a:latin typeface="Plus Jakarta Sans"/>
              </a:rPr>
              <a:t>PAIN 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6153150"/>
            <a:ext cx="638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1337"/>
                </a:solidFill>
                <a:latin typeface="Plus Jakarta Sans"/>
              </a:rPr>
              <a:t>Vital stockouts | Locked working capital | Slow invoice entry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600" y="5962650"/>
            <a:ext cx="5867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GOALS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600" y="6153150"/>
            <a:ext cx="5867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Zero expiry waste | Predictive WhatsApp reorders | P2P transfers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7475"/>
            <a:ext cx="3505200" cy="2162175"/>
          </a:xfrm>
          <a:prstGeom prst="roundRect">
            <a:avLst>
              <a:gd name="adj" fmla="val 52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57475"/>
            <a:ext cx="3505200" cy="2162175"/>
          </a:xfrm>
          <a:prstGeom prst="roundRect">
            <a:avLst>
              <a:gd name="adj" fmla="val 52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57475"/>
            <a:ext cx="3505200" cy="2162175"/>
          </a:xfrm>
          <a:prstGeom prst="roundRect">
            <a:avLst>
              <a:gd name="adj" fmla="val 52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657475"/>
            <a:ext cx="350520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657475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657475"/>
            <a:ext cx="35052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Research Evidence &amp; Core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962275"/>
            <a:ext cx="371475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E11D48"/>
                </a:solidFill>
                <a:latin typeface="Plus Jakarta Sans"/>
              </a:rPr>
              <a:t>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619500"/>
            <a:ext cx="3714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The Inventory Paradox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952875"/>
            <a:ext cx="3067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Pharmacies carry 50 days of stock, yet suffer a 28% walkout rate due to capital locked in slow supplier MOQs.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962275"/>
            <a:ext cx="371475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284C7"/>
                </a:solidFill>
                <a:latin typeface="Plus Jakarta Sans"/>
              </a:rPr>
              <a:t>93%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619500"/>
            <a:ext cx="3714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The Entry 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952875"/>
            <a:ext cx="3067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93% of retailers skip live POS inventory entry during rush hours, causing system stock to lag behind physical shelves.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2962275"/>
            <a:ext cx="371475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6A34A"/>
                </a:solidFill>
                <a:latin typeface="Plus Jakarta Sans"/>
              </a:rPr>
              <a:t>0 New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619500"/>
            <a:ext cx="3714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Low-Friction 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3952875"/>
            <a:ext cx="3067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Chemists reject new dashboards. They require zero-friction actionable alerts on existing tools like WhatsApp.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33475"/>
            <a:ext cx="2103090" cy="5191125"/>
          </a:xfrm>
          <a:prstGeom prst="roundRect">
            <a:avLst>
              <a:gd name="adj" fmla="val 4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26990" y="1133475"/>
            <a:ext cx="2103090" cy="5191125"/>
          </a:xfrm>
          <a:prstGeom prst="roundRect">
            <a:avLst>
              <a:gd name="adj" fmla="val 4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44380" y="1133475"/>
            <a:ext cx="2103090" cy="5191125"/>
          </a:xfrm>
          <a:prstGeom prst="roundRect">
            <a:avLst>
              <a:gd name="adj" fmla="val 4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61770" y="1133475"/>
            <a:ext cx="2103090" cy="5191125"/>
          </a:xfrm>
          <a:prstGeom prst="roundRect">
            <a:avLst>
              <a:gd name="adj" fmla="val 4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79160" y="1133475"/>
            <a:ext cx="2103090" cy="5191125"/>
          </a:xfrm>
          <a:prstGeom prst="roundRect">
            <a:avLst>
              <a:gd name="adj" fmla="val 4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User Experience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00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Customer Journey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285875"/>
            <a:ext cx="189354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D9488"/>
                </a:solidFill>
                <a:latin typeface="Plus Jakarta Sans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9390" y="1285875"/>
            <a:ext cx="189354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D9488"/>
                </a:solidFill>
                <a:latin typeface="Plus Jakarta Sans"/>
              </a:rP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6780" y="1285875"/>
            <a:ext cx="189354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D9488"/>
                </a:solidFill>
                <a:latin typeface="Plus Jakarta Sans"/>
              </a:rPr>
              <a:t>STAGE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4170" y="1285875"/>
            <a:ext cx="189354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D9488"/>
                </a:solidFill>
                <a:latin typeface="Plus Jakarta Sans"/>
              </a:rPr>
              <a:t>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1560" y="1285875"/>
            <a:ext cx="189354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D9488"/>
                </a:solidFill>
                <a:latin typeface="Plus Jakarta Sans"/>
              </a:rPr>
              <a:t>STAGE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1504950"/>
            <a:ext cx="23602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Inwarding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781175"/>
            <a:ext cx="22478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Scans bills &amp; manual entry.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219700"/>
            <a:ext cx="22478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"/>
              </a:rPr>
              <a:t>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543550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11D48"/>
                </a:solidFill>
                <a:latin typeface="Plus Jakarta Sans"/>
              </a:rPr>
              <a:t>Pain Point: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686425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Slow entry; cold-chain sits 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886450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Solution: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6029325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5803D"/>
                </a:solidFill>
                <a:latin typeface="Plus Jakarta Sans"/>
              </a:rPr>
              <a:t>Mobile OCR &amp; auto-tagging.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9390" y="1504950"/>
            <a:ext cx="23602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9390" y="1781175"/>
            <a:ext cx="22478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Places stock by brand name.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9390" y="5219700"/>
            <a:ext cx="22478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"/>
              </a:rPr>
              <a:t>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9390" y="5543550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11D48"/>
                </a:solidFill>
                <a:latin typeface="Plus Jakarta Sans"/>
              </a:rPr>
              <a:t>Pain Point: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9390" y="5686425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Near-expiry stock pushed back.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9390" y="5886450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Solution: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9390" y="6029325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5803D"/>
                </a:solidFill>
                <a:latin typeface="Plus Jakarta Sans"/>
              </a:rPr>
              <a:t>Multi-trigger FEFO smart flags.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6780" y="1504950"/>
            <a:ext cx="23602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Billing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6780" y="1781175"/>
            <a:ext cx="22478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Searches stock in rush hours.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6780" y="5219700"/>
            <a:ext cx="22478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"/>
              </a:rPr>
              <a:t>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6780" y="5543550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11D48"/>
                </a:solidFill>
                <a:latin typeface="Plus Jakarta Sans"/>
              </a:rPr>
              <a:t>Pain Point: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6780" y="5686425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Vital drug walkout occurs.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6780" y="5886450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Solution: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6780" y="6029325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5803D"/>
                </a:solidFill>
                <a:latin typeface="Plus Jakarta Sans"/>
              </a:rPr>
              <a:t>Live local stock transfer map.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4170" y="1504950"/>
            <a:ext cx="23602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Expiry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4170" y="1781175"/>
            <a:ext cx="22478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Checks expiry late at night.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14170" y="5219700"/>
            <a:ext cx="22478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"/>
              </a:rPr>
              <a:t>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4170" y="5543550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11D48"/>
                </a:solidFill>
                <a:latin typeface="Plus Jakarta Sans"/>
              </a:rPr>
              <a:t>Pain Point: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4170" y="5686425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Past supplier return window.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14170" y="5886450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Solution: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14170" y="6029325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5803D"/>
                </a:solidFill>
                <a:latin typeface="Plus Jakarta Sans"/>
              </a:rPr>
              <a:t>Automated WhatsApp feeds.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31560" y="1504950"/>
            <a:ext cx="23602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Reordering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31560" y="1781175"/>
            <a:ext cx="22478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Calls distributors manually.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31560" y="5076825"/>
            <a:ext cx="22478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"/>
              </a:rPr>
              <a:t>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31560" y="5400675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11D48"/>
                </a:solidFill>
                <a:latin typeface="Plus Jakarta Sans"/>
              </a:rPr>
              <a:t>Pain Point: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31560" y="5543550"/>
            <a:ext cx="18935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Plus Jakarta Sans"/>
              </a:rPr>
              <a:t>MOQs tie up cash &amp; licenses expire.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31560" y="5886450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Solution: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31560" y="6029325"/>
            <a:ext cx="2247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5803D"/>
                </a:solidFill>
                <a:latin typeface="Plus Jakarta Sans"/>
              </a:rPr>
              <a:t>Pre-billing license firewall.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49325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600402"/>
            <a:ext cx="10972800" cy="876300"/>
          </a:xfrm>
          <a:prstGeom prst="roundRect">
            <a:avLst>
              <a:gd name="adj" fmla="val 10869"/>
            </a:avLst>
          </a:prstGeom>
          <a:solidFill>
            <a:srgbClr val="F0FDF4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03351"/>
            <a:ext cx="10972800" cy="40005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479601"/>
            <a:ext cx="10972800" cy="40005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955851"/>
            <a:ext cx="10972800" cy="40005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432101"/>
            <a:ext cx="10972800" cy="40005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003351"/>
            <a:ext cx="38100" cy="400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479601"/>
            <a:ext cx="38100" cy="4000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955851"/>
            <a:ext cx="38100" cy="400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432101"/>
            <a:ext cx="38100" cy="40005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3810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Problem Deconstruction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790902"/>
            <a:ext cx="106870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ROOT CAUSE (WHY 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00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Root Cause Analysis (5 Whys)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901725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F1239"/>
                </a:solidFill>
                <a:latin typeface="Plus Jakarta Sans"/>
              </a:rPr>
              <a:t>Problem: Retail pharmacies face frequent stockouts on vital medicines while losing 4–10% revenue to expired stock.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6048077"/>
            <a:ext cx="113728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Plus Jakarta Sans"/>
              </a:rPr>
              <a:t>Existing POS tools act as passive databases rather than an automated, action-first intelligence layer.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117651"/>
            <a:ext cx="685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WHY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0650" y="3117651"/>
            <a:ext cx="6798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Fast-moving stock runs out unexpectedly while near-expiry stock sits unsold on shelves.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593901"/>
            <a:ext cx="704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WHY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9700" y="3593901"/>
            <a:ext cx="6072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Reordering is based on manual guesswork rather than predictive sales velocity.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070151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WHY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9225" y="4070151"/>
            <a:ext cx="6393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Counter staff do not update inventory in real time during peak customer rush hours.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546401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WHY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9225" y="4546401"/>
            <a:ext cx="6774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Core software requires tedious manual data entry for every incoming invoice and batch.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98526"/>
            <a:ext cx="10972800" cy="1194196"/>
          </a:xfrm>
          <a:prstGeom prst="roundRect">
            <a:avLst>
              <a:gd name="adj" fmla="val 9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498526"/>
            <a:ext cx="57150" cy="11941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210175"/>
            <a:ext cx="3555950" cy="1190625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17950" y="5210175"/>
            <a:ext cx="3555950" cy="1190625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26300" y="5210175"/>
            <a:ext cx="3555950" cy="1190625"/>
          </a:xfrm>
          <a:prstGeom prst="roundRect">
            <a:avLst>
              <a:gd name="adj" fmla="val 8000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541020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975" y="5410200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325" y="5410200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810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Opportunity Framing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727126"/>
            <a:ext cx="10610850" cy="73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D9488"/>
                </a:solidFill>
                <a:latin typeface="Plus Jakarta Sans"/>
              </a:rPr>
              <a:t>POINT OF VIEW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00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POV &amp; How Might We (HMW)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984301"/>
            <a:ext cx="105537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"Retail Pharmacy Owners need an automated, non-invasive inventory intelligence layer because manual entry and rigid supplier MOQs tie up working capital and cause stockouts on vital medicines."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5676900"/>
            <a:ext cx="414211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Predict Velocity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5895975"/>
            <a:ext cx="3251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C4A6E"/>
                </a:solidFill>
                <a:latin typeface="Plus Jakarta Sans"/>
              </a:rPr>
              <a:t>HMW predict sales velocity &amp; FEFO priorities so chemists sell near-expiry stock before financial loss?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975" y="5676900"/>
            <a:ext cx="414211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5803D"/>
                </a:solidFill>
                <a:latin typeface="Plus Jakarta Sans"/>
              </a:rPr>
              <a:t>Eliminate Bottlenecks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75" y="5895975"/>
            <a:ext cx="3251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4532D"/>
                </a:solidFill>
                <a:latin typeface="Plus Jakarta Sans"/>
              </a:rPr>
              <a:t>HMW eliminate manual invoice entry bottlenecks during busy receiving hours?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6325" y="5676900"/>
            <a:ext cx="396567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A16207"/>
                </a:solidFill>
                <a:latin typeface="Plus Jakarta Sans"/>
              </a:rPr>
              <a:t>Peer Transfers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6325" y="5895975"/>
            <a:ext cx="3251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13F12"/>
                </a:solidFill>
                <a:latin typeface="Plus Jakarta Sans"/>
              </a:rPr>
              <a:t>HMW enable peer-to-peer inter-pharmacy transfers during emergency local stockouts?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95750"/>
            <a:ext cx="5391150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4095750"/>
            <a:ext cx="5391150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286375"/>
            <a:ext cx="5391150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5286375"/>
            <a:ext cx="5391150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295775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429577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5486400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5486400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7" y="4400550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4410075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5600700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1287" y="5600700"/>
            <a:ext cx="2190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3810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00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PharmaStock AI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1125" y="4295775"/>
            <a:ext cx="55506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Action-First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125" y="4552950"/>
            <a:ext cx="5286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Daily WhatsApp action cards: </a:t>
            </a:r>
            <a:r>
              <a:rPr b="0" sz="1050" i="1" u="none">
                <a:solidFill>
                  <a:srgbClr val="64748B"/>
                </a:solidFill>
                <a:latin typeface="Plus Jakarta Sans"/>
              </a:rPr>
              <a:t>Order Now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, </a:t>
            </a:r>
            <a:r>
              <a:rPr b="0" sz="1050" i="1" u="none">
                <a:solidFill>
                  <a:srgbClr val="64748B"/>
                </a:solidFill>
                <a:latin typeface="Plus Jakarta Sans"/>
              </a:rPr>
              <a:t>Sell First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, and </a:t>
            </a:r>
            <a:r>
              <a:rPr b="0" sz="1050" i="1" u="none">
                <a:solidFill>
                  <a:srgbClr val="64748B"/>
                </a:solidFill>
                <a:latin typeface="Plus Jakarta Sans"/>
              </a:rPr>
              <a:t>Claim Return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2775" y="4295775"/>
            <a:ext cx="52292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OCR Inward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2775" y="4552950"/>
            <a:ext cx="4514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Mobile camera bill scanner extracting batch, expiry, and cold-chain tags (2–8°C).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1125" y="5486400"/>
            <a:ext cx="58007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Pre-Billing License Firewall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1125" y="5743575"/>
            <a:ext cx="4514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Verification API checking Drug License validity prior to distributor dispatch.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2775" y="5486400"/>
            <a:ext cx="52292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B2B Transfer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2775" y="5743575"/>
            <a:ext cx="52292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Local stock mapping for emergency transfers and MOQ order pooling.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00700"/>
            <a:ext cx="10972800" cy="800100"/>
          </a:xfrm>
          <a:prstGeom prst="roundRect">
            <a:avLst>
              <a:gd name="adj" fmla="val 11904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56582"/>
            <a:ext cx="3530649" cy="1421010"/>
          </a:xfrm>
          <a:prstGeom prst="roundRect">
            <a:avLst>
              <a:gd name="adj" fmla="val 80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656582"/>
            <a:ext cx="3530649" cy="1421010"/>
          </a:xfrm>
          <a:prstGeom prst="roundRect">
            <a:avLst>
              <a:gd name="adj" fmla="val 80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656582"/>
            <a:ext cx="3530649" cy="1421010"/>
          </a:xfrm>
          <a:prstGeom prst="roundRect">
            <a:avLst>
              <a:gd name="adj" fmla="val 80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Implementation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In-Sem Phase 2 &amp; Execution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885182"/>
            <a:ext cx="3168699" cy="96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9349" y="2885182"/>
            <a:ext cx="3168699" cy="96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STEP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499" y="2885182"/>
            <a:ext cx="3168699" cy="96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STEP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55984" y="5800725"/>
            <a:ext cx="1270396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Key Takeaway: Pharmacists do not want another complex dashboard—they need low-friction, actionable alerts delivered directly to WhatsApp.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170932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Backend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466207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Build FastAPI microservices and OCR parser pipeline for rapid bill extraction.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3170932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AI Prediction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466207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Train Prophet &amp; LightGBM demand prediction models on sample SKU datasets.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024" y="3170932"/>
            <a:ext cx="3901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Integration &amp;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466207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Deploy WhatsApp API messaging pipeline and validate B2B transfer UI with chemists.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5747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8225"/>
            <a:ext cx="9691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https://d91ztqmtx7u1k.cloudfront.net/ClientContent/Images/ExtraLarge/free-standing-unit-medical-sto-20241220155951434.jpg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8250"/>
            <a:ext cx="2155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www.aajjo.com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https://media.istockphoto.com/id/167236700/photo/pharmacy-chemist-woman-in-drugstore.jpg?s=612x612&amp;w=0&amp;k=20&amp;c=ybGqqSBoCA7wdBKM0fQ4enYgCbGkgSALTjWeVEOp2OQ=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124075"/>
            <a:ext cx="2833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1937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https://www.worldcourier.com/-/media/assets/worldcourier/english/images/pharma-storage-and-distribution/distribution/distribution-spain-team-pc-stations-belts-storage.jpg?h=1347&amp;iar=0&amp;w=2020&amp;hash=5F998C9E1F56671B726791695A84296D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971800"/>
            <a:ext cx="285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www.worldcourier.com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